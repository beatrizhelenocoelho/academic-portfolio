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</p:sldMasterIdLst>
  <p:notesMasterIdLst>
    <p:notesMasterId r:id="rId18"/>
  </p:notesMasterIdLst>
  <p:handoutMasterIdLst>
    <p:handoutMasterId r:id="rId19"/>
  </p:handoutMasterIdLst>
  <p:sldIdLst>
    <p:sldId id="422" r:id="rId6"/>
    <p:sldId id="463" r:id="rId7"/>
    <p:sldId id="461" r:id="rId8"/>
    <p:sldId id="473" r:id="rId9"/>
    <p:sldId id="474" r:id="rId10"/>
    <p:sldId id="466" r:id="rId11"/>
    <p:sldId id="475" r:id="rId12"/>
    <p:sldId id="468" r:id="rId13"/>
    <p:sldId id="467" r:id="rId14"/>
    <p:sldId id="469" r:id="rId15"/>
    <p:sldId id="470" r:id="rId16"/>
    <p:sldId id="446" r:id="rId17"/>
  </p:sldIdLst>
  <p:sldSz cx="9144000" cy="6858000" type="screen4x3"/>
  <p:notesSz cx="67437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4400" kern="1200" baseline="-25000">
        <a:solidFill>
          <a:srgbClr val="000099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E96195-5E94-E805-C1C7-F572A04B0892}" name="Mónica Alexandra Marecos Ferreira" initials="MF" userId="S::ist1106520@tecnico.ulisboa.pt::05d9b25b-d416-4f94-9289-a668140cea3e" providerId="AD"/>
  <p188:author id="{008EF0C3-4456-ED7B-676B-1D8AC825C141}" name="Luís Fernando Mendonça de Sousa Nóbrega" initials="LN" userId="S::ist1106716@tecnico.ulisboa.pt::8b901781-2da4-497d-9563-58dd9b1d9c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E0"/>
    <a:srgbClr val="FF3F3A"/>
    <a:srgbClr val="FDE100"/>
    <a:srgbClr val="3FA63F"/>
    <a:srgbClr val="EBF2FA"/>
    <a:srgbClr val="C5D5E8"/>
    <a:srgbClr val="009EE0"/>
    <a:srgbClr val="B5E7F1"/>
    <a:srgbClr val="3C6045"/>
    <a:srgbClr val="9A6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E0B0F-F607-8FEA-FF36-1189A55AC036}" v="1284" dt="2026-06-05T14:57:02.391"/>
    <p1510:client id="{0E93AB73-6DB4-6EBA-B074-80553FDA2A22}" v="5" dt="2026-06-04T22:08:08.616"/>
    <p1510:client id="{3FC7CF9B-2A5B-19A0-BB07-DF4794C970BA}" v="263" dt="2026-06-04T21:43:49.847"/>
    <p1510:client id="{573DFB92-0C22-E3EA-D0F6-88FE9035C535}" v="1419" dt="2026-06-05T14:48:31.835"/>
    <p1510:client id="{809F8CAF-CEA9-7E7C-9373-2148006DFFF5}" v="103" dt="2026-06-04T22:08:03.894"/>
    <p1510:client id="{880CE6BF-A029-1C51-53EC-7F0B26B93FA1}" v="10" dt="2026-06-04T22:19:37.772"/>
    <p1510:client id="{90AC52DE-5AE7-8E40-0F32-D22ED5CEBA08}" v="96" dt="2026-06-04T21:47:44.015"/>
    <p1510:client id="{A116E4DA-C269-AB36-8DB5-EFDEF6D84CA4}" v="85" dt="2026-06-04T22:37:27.947"/>
    <p1510:client id="{A27AF00C-682A-47A6-72DC-A9C0C6DC3630}" v="56" dt="2026-06-05T10:40:53.242"/>
    <p1510:client id="{B23F2E36-26F5-3F4A-BA36-9BC210000B23}" v="821" dt="2026-06-05T15:34:13.812"/>
    <p1510:client id="{EA006C6D-A2BE-2DFB-A388-D339B516AA1A}" v="40" dt="2026-06-05T21:19:21.102"/>
    <p1510:client id="{EFE12FF1-A92C-8771-FB9B-179EEA1FA75F}" v="16" dt="2026-06-05T13:09:35.802"/>
    <p1510:client id="{F93CBBBD-1C47-6A49-A0B2-F70CCACF4B90}" v="1246" dt="2026-06-05T14:53:18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B07E98A-C2A6-45CC-99EB-6B20EE2F56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A90CCBF-5555-465E-B85B-232D8F7E3B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113" y="0"/>
            <a:ext cx="2922587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1C48A63-F563-453B-8949-19E00AD8F9A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3DFC2C4-5551-4AE1-AD8D-75A58DAB17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113" y="9410700"/>
            <a:ext cx="2922587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E183388-B0D0-4255-960B-841A48269BF5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D58432FE-C57D-46DE-B7B6-30780E55FF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4BB8A91D-8B63-4F28-B74C-A433B8EE0F8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F7E2317-760E-4AF7-A27D-F36523D7AD3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PT"/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F2F21229-3427-43B4-991D-0F47E6DE934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05350"/>
            <a:ext cx="5394325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281B7A3F-EF56-4CE2-949D-F192522104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7943" name="Rectangle 7">
            <a:extLst>
              <a:ext uri="{FF2B5EF4-FFF2-40B4-BE49-F238E27FC236}">
                <a16:creationId xmlns:a16="http://schemas.microsoft.com/office/drawing/2014/main" id="{E554EBAC-9FDE-4685-A26F-19FAABBC6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409113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CCC0AA1-E6E8-4B2D-9000-F21FEDC7AB9D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990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95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89F6-E575-A1F4-D4BD-551F2731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281ED-0C4E-A919-AECE-521BDF061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28A76-C8C5-8748-F198-0736AF59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91D37-DE1A-E953-8341-CAFD9B9B5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7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D00F-1E44-7DBE-9658-5E702491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2478B-3CA3-0F5E-921D-65048BA93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A41F5-28D2-F287-51B0-5826C216A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3D4F-051B-1219-2D74-6FB7E2DE7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556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906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Este slide resume o plano de controlo da qualidade do projeto. O objetivo é garantir que a solução de telecomunicações para o MV </a:t>
            </a:r>
            <a:r>
              <a:rPr lang="en-PT" sz="1200" b="0" i="1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World Voyager</a:t>
            </a:r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é consistente do ponto de vista técnico e está preparada para a fase seguinte de implementação. O controlo da qualidade é feito em seis checkpoints, desde a revisão do design até à aceitação final.</a:t>
            </a:r>
          </a:p>
          <a:p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Os principais aspetos avaliados são a cobertura, a capacidade, o backhaul por satélite, o shutdown em porto, a conformidade dos equipamentos e a documentação final. Por exemplo, queremos assegurar pelo menos 95% de cobertura, capacidade para 325 utilizadores simultâneos com 20% de margem, latência abaixo de 700 milissegundos, perda de pacotes inferior a 1% e desligamento da rede celular em menos de 30 segundos em porto. Cada critério tem um método de verificação, um responsável e uma ação corretiva, e complementamos isso com revisões quinzenais de EVM para acompanhar o impacto na duração e no custo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705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955A-A1F3-42DC-7A5F-AC0E5175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749FD-C8FD-A67B-A4D8-C47E24474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B04FB-A433-AD45-5CA3-AB8748CC7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Em conclusão, este projeto entregou um pacote completo de planeamento para o sistema de telecomunicações do MV </a:t>
            </a:r>
            <a:r>
              <a:rPr lang="en-PT" sz="1200" b="0" i="1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World Voyager</a:t>
            </a:r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 O trabalho incluiu o desenho técnico, a WBS, o cronograma, os recursos, os riscos e o plano de qualidade.</a:t>
            </a:r>
          </a:p>
          <a:p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 projeto ficou bem estruturado e com boa rastreabilidade, porque cada entregável foi ligado a atividades e requisitos claros. A análise PERT e o nivelamento de recursos ajudaram a tornar o planeamento mais realista.</a:t>
            </a:r>
          </a:p>
          <a:p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 duração total do projeto é de 58,5 dias, com 6 dias de </a:t>
            </a:r>
            <a:r>
              <a:rPr lang="en-PT" sz="1200" b="0" i="1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ghost buffer</a:t>
            </a:r>
            <a:r>
              <a:rPr lang="en-PT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para acomodar a contingency reserve. No final, o orçamento ficou em 213.996 euros de estimativa, 227.912 euros de cost baseline e 250.703 euros de budget total.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E7666-7020-84DA-3C1B-2257E6797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C0AA1-E6E8-4B2D-9000-F21FEDC7AB9D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496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16632"/>
            <a:ext cx="8064896" cy="1224136"/>
          </a:xfrm>
          <a:prstGeom prst="rect">
            <a:avLst/>
          </a:prstGeom>
        </p:spPr>
        <p:txBody>
          <a:bodyPr anchor="ctr"/>
          <a:lstStyle>
            <a:lvl1pPr>
              <a:defRPr sz="4400">
                <a:solidFill>
                  <a:srgbClr val="009DE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53926"/>
            <a:ext cx="8064896" cy="5215434"/>
          </a:xfrm>
          <a:prstGeom prst="rect">
            <a:avLst/>
          </a:prstGeom>
        </p:spPr>
        <p:txBody>
          <a:bodyPr/>
          <a:lstStyle>
            <a:lvl1pPr marL="361950" indent="-361950" algn="l" rtl="0" eaLnBrk="0" fontAlgn="base" hangingPunct="0">
              <a:spcBef>
                <a:spcPts val="1200"/>
              </a:spcBef>
              <a:spcAft>
                <a:spcPct val="0"/>
              </a:spcAft>
              <a:buFontTx/>
              <a:buChar char="•"/>
              <a:defRPr lang="en-US" sz="2800" kern="1200" baseline="0" dirty="0" smtClean="0">
                <a:solidFill>
                  <a:srgbClr val="46555F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23900" indent="-388938" algn="l" rtl="0" eaLnBrk="0" fontAlgn="base" hangingPunct="0">
              <a:spcBef>
                <a:spcPts val="1200"/>
              </a:spcBef>
              <a:spcAft>
                <a:spcPct val="0"/>
              </a:spcAft>
              <a:buFontTx/>
              <a:buChar char="•"/>
              <a:defRPr lang="en-US" sz="2800" kern="1200" baseline="0" dirty="0" smtClean="0">
                <a:solidFill>
                  <a:srgbClr val="46555F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085850" indent="-382588" algn="l" rtl="0" eaLnBrk="0" fontAlgn="base" hangingPunct="0">
              <a:spcBef>
                <a:spcPts val="1200"/>
              </a:spcBef>
              <a:spcAft>
                <a:spcPct val="0"/>
              </a:spcAft>
              <a:buFontTx/>
              <a:buChar char="•"/>
              <a:defRPr lang="en-US" sz="2800" kern="1200" baseline="0" dirty="0" smtClean="0">
                <a:solidFill>
                  <a:srgbClr val="46555F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428750" indent="-441325" algn="l" rtl="0" eaLnBrk="0" fontAlgn="base" hangingPunct="0">
              <a:spcBef>
                <a:spcPts val="1200"/>
              </a:spcBef>
              <a:spcAft>
                <a:spcPct val="0"/>
              </a:spcAft>
              <a:buFontTx/>
              <a:buChar char="•"/>
              <a:defRPr lang="en-US" sz="2800" kern="1200" baseline="0" dirty="0" smtClean="0">
                <a:solidFill>
                  <a:srgbClr val="46555F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790700" indent="-363538" algn="l" rtl="0" eaLnBrk="0" fontAlgn="base" hangingPunct="0">
              <a:spcBef>
                <a:spcPts val="1200"/>
              </a:spcBef>
              <a:spcAft>
                <a:spcPct val="0"/>
              </a:spcAft>
              <a:buFontTx/>
              <a:buChar char="•"/>
              <a:defRPr lang="pt-PT" sz="2800" kern="1200" baseline="0" dirty="0">
                <a:solidFill>
                  <a:srgbClr val="46555F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3331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648" y="260648"/>
            <a:ext cx="7416824" cy="3600400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rgbClr val="009DE0"/>
                </a:solidFill>
                <a:latin typeface="+mn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221088"/>
            <a:ext cx="7416824" cy="23762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rgbClr val="46555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4314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1">
            <a:extLst>
              <a:ext uri="{FF2B5EF4-FFF2-40B4-BE49-F238E27FC236}">
                <a16:creationId xmlns:a16="http://schemas.microsoft.com/office/drawing/2014/main" id="{A52B824B-2EF1-4ECA-9B4B-16C32B371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0338" y="6381328"/>
            <a:ext cx="5238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 baseline="-25000">
                <a:solidFill>
                  <a:srgbClr val="000099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2552CEB-4A56-488F-9E9C-158D7BB84D7C}" type="slidenum">
              <a:rPr lang="en-GB" altLang="en-US" sz="1800" b="1" smtClean="0">
                <a:solidFill>
                  <a:srgbClr val="4655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‹nº›</a:t>
            </a:fld>
            <a:endParaRPr lang="en-GB" altLang="en-US" sz="1800" b="1">
              <a:solidFill>
                <a:srgbClr val="4655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27" name="Group 2">
            <a:extLst>
              <a:ext uri="{FF2B5EF4-FFF2-40B4-BE49-F238E27FC236}">
                <a16:creationId xmlns:a16="http://schemas.microsoft.com/office/drawing/2014/main" id="{A5982051-7405-4B70-AF9E-9CD7AEBEFC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4925" y="44450"/>
            <a:ext cx="720725" cy="1279525"/>
            <a:chOff x="35495" y="44624"/>
            <a:chExt cx="1080121" cy="1919177"/>
          </a:xfrm>
        </p:grpSpPr>
        <p:pic>
          <p:nvPicPr>
            <p:cNvPr id="1031" name="Picture 5">
              <a:extLst>
                <a:ext uri="{FF2B5EF4-FFF2-40B4-BE49-F238E27FC236}">
                  <a16:creationId xmlns:a16="http://schemas.microsoft.com/office/drawing/2014/main" id="{BDC5A7B6-725B-447C-9B8B-43D1A6F78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64" t="29630" r="58475" b="29074"/>
            <a:stretch>
              <a:fillRect/>
            </a:stretch>
          </p:blipFill>
          <p:spPr bwMode="auto">
            <a:xfrm>
              <a:off x="35495" y="44624"/>
              <a:ext cx="1080120" cy="132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5">
              <a:extLst>
                <a:ext uri="{FF2B5EF4-FFF2-40B4-BE49-F238E27FC236}">
                  <a16:creationId xmlns:a16="http://schemas.microsoft.com/office/drawing/2014/main" id="{12ADCC8B-241A-4CFE-9EFF-65A898DF5F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0" t="29630" r="17139" b="29074"/>
            <a:stretch>
              <a:fillRect/>
            </a:stretch>
          </p:blipFill>
          <p:spPr bwMode="auto">
            <a:xfrm>
              <a:off x="71616" y="1240062"/>
              <a:ext cx="1044000" cy="723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29" name="Straight Connector 3">
            <a:extLst>
              <a:ext uri="{FF2B5EF4-FFF2-40B4-BE49-F238E27FC236}">
                <a16:creationId xmlns:a16="http://schemas.microsoft.com/office/drawing/2014/main" id="{8FA7B7E5-E168-4D56-9964-F6A3889DB7A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827088" y="0"/>
            <a:ext cx="0" cy="6858000"/>
          </a:xfrm>
          <a:prstGeom prst="line">
            <a:avLst/>
          </a:prstGeom>
          <a:noFill/>
          <a:ln w="25400" algn="ctr">
            <a:solidFill>
              <a:srgbClr val="009DE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 Box 11">
            <a:extLst>
              <a:ext uri="{FF2B5EF4-FFF2-40B4-BE49-F238E27FC236}">
                <a16:creationId xmlns:a16="http://schemas.microsoft.com/office/drawing/2014/main" id="{B7F43C01-DA17-E9D0-D304-0B9EAEE8ED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118" y="5983446"/>
            <a:ext cx="72072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altLang="pt-BR" sz="1200" i="0" baseline="0">
                <a:latin typeface="Arial" charset="0"/>
              </a:rPr>
              <a:t>GPE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ctr" defTabSz="390525" rtl="0" eaLnBrk="0" fontAlgn="base" hangingPunct="0">
        <a:spcBef>
          <a:spcPct val="0"/>
        </a:spcBef>
        <a:spcAft>
          <a:spcPct val="0"/>
        </a:spcAft>
        <a:defRPr sz="19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525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2pPr>
      <a:lvl3pPr algn="ctr" defTabSz="390525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3pPr>
      <a:lvl4pPr algn="ctr" defTabSz="390525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4pPr>
      <a:lvl5pPr algn="ctr" defTabSz="390525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390525" rtl="0" eaLnBrk="1" fontAlgn="base" hangingPunct="1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390525" rtl="0" eaLnBrk="1" fontAlgn="base" hangingPunct="1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390525" rtl="0" eaLnBrk="1" fontAlgn="base" hangingPunct="1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390525" rtl="0" eaLnBrk="1" fontAlgn="base" hangingPunct="1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46050" indent="-146050" algn="l" defTabSz="390525" rtl="0" eaLnBrk="0" fontAlgn="base" hangingPunct="0">
        <a:spcBef>
          <a:spcPct val="20000"/>
        </a:spcBef>
        <a:spcAft>
          <a:spcPct val="0"/>
        </a:spcAft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122238" algn="l" defTabSz="390525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87363" indent="-96838" algn="l" defTabSz="390525" rtl="0" eaLnBrk="0" fontAlgn="base" hangingPunct="0">
        <a:spcBef>
          <a:spcPct val="20000"/>
        </a:spcBef>
        <a:spcAft>
          <a:spcPct val="0"/>
        </a:spcAft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2625" indent="-98425" algn="l" defTabSz="390525" rtl="0" eaLnBrk="0" fontAlgn="base" hangingPunct="0">
        <a:spcBef>
          <a:spcPct val="20000"/>
        </a:spcBef>
        <a:spcAft>
          <a:spcPct val="0"/>
        </a:spcAft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76300" indent="-96838" algn="l" defTabSz="390525" rtl="0" eaLnBrk="0" fontAlgn="base" hangingPunct="0">
        <a:spcBef>
          <a:spcPct val="20000"/>
        </a:spcBef>
        <a:spcAft>
          <a:spcPct val="0"/>
        </a:spcAft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6">
            <a:extLst>
              <a:ext uri="{FF2B5EF4-FFF2-40B4-BE49-F238E27FC236}">
                <a16:creationId xmlns:a16="http://schemas.microsoft.com/office/drawing/2014/main" id="{6060EDEB-BF83-4A9A-B37D-70BA84086AA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4925" y="44450"/>
            <a:ext cx="1081088" cy="1919288"/>
            <a:chOff x="35495" y="44624"/>
            <a:chExt cx="1080121" cy="1919177"/>
          </a:xfrm>
        </p:grpSpPr>
        <p:pic>
          <p:nvPicPr>
            <p:cNvPr id="2053" name="Picture 7">
              <a:extLst>
                <a:ext uri="{FF2B5EF4-FFF2-40B4-BE49-F238E27FC236}">
                  <a16:creationId xmlns:a16="http://schemas.microsoft.com/office/drawing/2014/main" id="{480B1B6E-D893-4DA9-AC23-3563715B40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64" t="29630" r="58475" b="29074"/>
            <a:stretch>
              <a:fillRect/>
            </a:stretch>
          </p:blipFill>
          <p:spPr bwMode="auto">
            <a:xfrm>
              <a:off x="35495" y="44624"/>
              <a:ext cx="1080120" cy="132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4" name="Picture 5">
              <a:extLst>
                <a:ext uri="{FF2B5EF4-FFF2-40B4-BE49-F238E27FC236}">
                  <a16:creationId xmlns:a16="http://schemas.microsoft.com/office/drawing/2014/main" id="{3B2EA95D-8160-4601-8D8E-8BFFEEC95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20" t="29630" r="17139" b="29074"/>
            <a:stretch>
              <a:fillRect/>
            </a:stretch>
          </p:blipFill>
          <p:spPr bwMode="auto">
            <a:xfrm>
              <a:off x="71616" y="1240062"/>
              <a:ext cx="1044000" cy="723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3C47-F8B1-4FD3-8070-66D09801A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632" y="0"/>
            <a:ext cx="7416800" cy="3600450"/>
          </a:xfrm>
        </p:spPr>
        <p:txBody>
          <a:bodyPr/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pt-PT"/>
              <a:t>Mobile Communications’ Base Stations and Wi-Fi Access Points inside a Cruise Ship</a:t>
            </a:r>
            <a:endParaRPr lang="en-GB">
              <a:cs typeface="Times New Roman" panose="02020603050405020304" pitchFamily="18" charset="0"/>
            </a:endParaRPr>
          </a:p>
        </p:txBody>
      </p:sp>
      <p:sp>
        <p:nvSpPr>
          <p:cNvPr id="5123" name="Subtitle 2">
            <a:extLst>
              <a:ext uri="{FF2B5EF4-FFF2-40B4-BE49-F238E27FC236}">
                <a16:creationId xmlns:a16="http://schemas.microsoft.com/office/drawing/2014/main" id="{A0BE8225-6E71-47F3-A9B0-251C1B6D25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3600" y="3365994"/>
            <a:ext cx="7416800" cy="15031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20000"/>
              </a:spcBef>
            </a:pPr>
            <a:br>
              <a:rPr lang="pt-PT" sz="2000"/>
            </a:br>
            <a:endParaRPr lang="pt-PT" sz="2000"/>
          </a:p>
          <a:p>
            <a:pPr eaLnBrk="1" hangingPunct="1">
              <a:spcBef>
                <a:spcPct val="20000"/>
              </a:spcBef>
            </a:pPr>
            <a:r>
              <a:rPr lang="pt-PT" sz="2000" err="1"/>
              <a:t>Group</a:t>
            </a:r>
            <a:r>
              <a:rPr lang="pt-PT" sz="2000"/>
              <a:t> 08</a:t>
            </a:r>
            <a:br>
              <a:rPr lang="pt-PT" sz="2000"/>
            </a:br>
            <a:r>
              <a:rPr lang="pt-PT" sz="2000"/>
              <a:t>Alice Navalho · Beatriz Coelho · Luís Nóbrega </a:t>
            </a:r>
          </a:p>
          <a:p>
            <a:pPr eaLnBrk="1" hangingPunct="1">
              <a:spcBef>
                <a:spcPct val="20000"/>
              </a:spcBef>
            </a:pPr>
            <a:r>
              <a:rPr lang="pt-PT" sz="2000"/>
              <a:t>Maria Abrantes · Mónica Ferreira · Rodrigo Esgueira</a:t>
            </a:r>
            <a:endParaRPr lang="pt-PT" sz="2000">
              <a:ea typeface="Calibri"/>
              <a:cs typeface="Calibri"/>
            </a:endParaRPr>
          </a:p>
          <a:p>
            <a:pPr eaLnBrk="1" hangingPunct="1">
              <a:spcBef>
                <a:spcPct val="20000"/>
              </a:spcBef>
            </a:pPr>
            <a:endParaRPr lang="en-GB" altLang="en-US" sz="2000"/>
          </a:p>
          <a:p>
            <a:pPr eaLnBrk="1" hangingPunct="1">
              <a:spcBef>
                <a:spcPct val="20000"/>
              </a:spcBef>
            </a:pPr>
            <a:r>
              <a:rPr lang="en-GB" altLang="en-US">
                <a:solidFill>
                  <a:srgbClr val="006699"/>
                </a:solidFill>
              </a:rPr>
              <a:t>Instituto Superior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5BA0D-FEEE-8724-ABC8-FD7DE1C9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-143411"/>
            <a:ext cx="8064896" cy="1224136"/>
          </a:xfrm>
        </p:spPr>
        <p:txBody>
          <a:bodyPr lIns="91440" tIns="45720" rIns="91440" bIns="45720" anchor="ctr"/>
          <a:lstStyle/>
          <a:p>
            <a:r>
              <a:rPr lang="pt-PT" err="1">
                <a:latin typeface="Calibri"/>
                <a:ea typeface="Calibri"/>
                <a:cs typeface="Calibri"/>
              </a:rPr>
              <a:t>Outline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6459903-7332-255F-814D-1AADFCC7A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080724"/>
            <a:ext cx="8064896" cy="6012053"/>
          </a:xfrm>
        </p:spPr>
        <p:txBody>
          <a:bodyPr lIns="91440" tIns="45720" rIns="91440" bIns="45720" anchor="t"/>
          <a:lstStyle/>
          <a:p>
            <a:r>
              <a:rPr lang="pt-PT" sz="2200" err="1">
                <a:latin typeface="Calibri"/>
                <a:ea typeface="Calibri"/>
                <a:cs typeface="Calibri"/>
              </a:rPr>
              <a:t>Understanding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the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Onboard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Challenge</a:t>
            </a:r>
            <a:endParaRPr lang="pt-PT" sz="2200"/>
          </a:p>
          <a:p>
            <a:r>
              <a:rPr lang="pt-PT" sz="2200">
                <a:latin typeface="Calibri"/>
                <a:ea typeface="Calibri"/>
                <a:cs typeface="Calibri"/>
              </a:rPr>
              <a:t>Scope, </a:t>
            </a:r>
            <a:r>
              <a:rPr lang="pt-PT" sz="2200" err="1">
                <a:latin typeface="Calibri"/>
                <a:ea typeface="Calibri"/>
                <a:cs typeface="Calibri"/>
              </a:rPr>
              <a:t>Assumptions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and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Requirements</a:t>
            </a:r>
            <a:endParaRPr lang="pt-PT" sz="2200">
              <a:latin typeface="Calibri"/>
              <a:ea typeface="Calibri"/>
              <a:cs typeface="Calibri"/>
            </a:endParaRPr>
          </a:p>
          <a:p>
            <a:r>
              <a:rPr lang="pt-PT" sz="2200" err="1">
                <a:latin typeface="Calibri"/>
                <a:ea typeface="Calibri"/>
                <a:cs typeface="Calibri"/>
              </a:rPr>
              <a:t>Stakeholder</a:t>
            </a:r>
            <a:endParaRPr lang="pt-PT" sz="2200">
              <a:latin typeface="Calibri"/>
              <a:ea typeface="Calibri"/>
              <a:cs typeface="Calibri"/>
            </a:endParaRPr>
          </a:p>
          <a:p>
            <a:r>
              <a:rPr lang="pt-PT" sz="2200">
                <a:latin typeface="Calibri"/>
                <a:ea typeface="Calibri"/>
                <a:cs typeface="Calibri"/>
              </a:rPr>
              <a:t>Work </a:t>
            </a:r>
            <a:r>
              <a:rPr lang="pt-PT" sz="2200" err="1">
                <a:latin typeface="Calibri"/>
                <a:ea typeface="Calibri"/>
                <a:cs typeface="Calibri"/>
              </a:rPr>
              <a:t>Breakdown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Structure</a:t>
            </a:r>
            <a:endParaRPr lang="pt-PT" sz="2200">
              <a:latin typeface="Calibri"/>
              <a:ea typeface="Calibri"/>
              <a:cs typeface="Calibri"/>
            </a:endParaRPr>
          </a:p>
          <a:p>
            <a:r>
              <a:rPr lang="pt-PT" sz="2200">
                <a:latin typeface="Calibri"/>
                <a:ea typeface="Calibri"/>
                <a:cs typeface="Calibri"/>
              </a:rPr>
              <a:t>RACI </a:t>
            </a:r>
            <a:r>
              <a:rPr lang="pt-PT" sz="2200" err="1">
                <a:latin typeface="Calibri"/>
                <a:ea typeface="Calibri"/>
                <a:cs typeface="Calibri"/>
              </a:rPr>
              <a:t>Matrix</a:t>
            </a:r>
            <a:endParaRPr lang="pt-PT" sz="2200">
              <a:latin typeface="Calibri"/>
              <a:ea typeface="Calibri"/>
              <a:cs typeface="Calibri"/>
            </a:endParaRPr>
          </a:p>
          <a:p>
            <a:r>
              <a:rPr lang="pt-PT" sz="2200" err="1">
                <a:latin typeface="Calibri"/>
                <a:ea typeface="Calibri"/>
                <a:cs typeface="Calibri"/>
              </a:rPr>
              <a:t>Resources</a:t>
            </a:r>
            <a:r>
              <a:rPr lang="pt-PT" sz="2200">
                <a:latin typeface="Calibri"/>
                <a:ea typeface="Calibri"/>
                <a:cs typeface="Calibri"/>
              </a:rPr>
              <a:t> &amp; </a:t>
            </a:r>
            <a:r>
              <a:rPr lang="pt-PT" sz="2200" err="1">
                <a:latin typeface="Calibri"/>
                <a:ea typeface="Calibri"/>
                <a:cs typeface="Calibri"/>
              </a:rPr>
              <a:t>Cost</a:t>
            </a:r>
            <a:r>
              <a:rPr lang="pt-PT" sz="2200">
                <a:latin typeface="Calibri"/>
                <a:ea typeface="Calibri"/>
                <a:cs typeface="Calibri"/>
              </a:rPr>
              <a:t> </a:t>
            </a:r>
            <a:r>
              <a:rPr lang="pt-PT" sz="2200" err="1">
                <a:latin typeface="Calibri"/>
                <a:ea typeface="Calibri"/>
                <a:cs typeface="Calibri"/>
              </a:rPr>
              <a:t>Analysis</a:t>
            </a:r>
            <a:endParaRPr lang="pt-PT" sz="2200">
              <a:latin typeface="Calibri"/>
              <a:ea typeface="Calibri"/>
              <a:cs typeface="Calibri"/>
            </a:endParaRPr>
          </a:p>
          <a:p>
            <a:r>
              <a:rPr lang="pt-PT" sz="2200">
                <a:latin typeface="Calibri"/>
                <a:ea typeface="Calibri"/>
                <a:cs typeface="Calibri"/>
              </a:rPr>
              <a:t>Schedule</a:t>
            </a:r>
          </a:p>
          <a:p>
            <a:r>
              <a:rPr lang="en-PT" sz="2200"/>
              <a:t>Quality Control Plan</a:t>
            </a:r>
          </a:p>
          <a:p>
            <a:r>
              <a:rPr lang="pt-PT" sz="2200" err="1">
                <a:latin typeface="Calibri"/>
                <a:ea typeface="Calibri"/>
                <a:cs typeface="Calibri"/>
              </a:rPr>
              <a:t>Risk</a:t>
            </a:r>
            <a:r>
              <a:rPr lang="pt-PT" sz="2200">
                <a:latin typeface="Calibri"/>
                <a:ea typeface="Calibri"/>
                <a:cs typeface="Calibri"/>
              </a:rPr>
              <a:t> Management</a:t>
            </a:r>
            <a:endParaRPr lang="pt-PT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PT" sz="2200" err="1">
                <a:latin typeface="Calibri"/>
                <a:ea typeface="Calibri"/>
                <a:cs typeface="Calibri"/>
              </a:rPr>
              <a:t>Conclusions</a:t>
            </a:r>
            <a:endParaRPr lang="pt-PT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04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A69D-4CBC-88BF-0A3D-FBDC7A5A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90" y="118384"/>
            <a:ext cx="8010114" cy="1183557"/>
          </a:xfrm>
        </p:spPr>
        <p:txBody>
          <a:bodyPr lIns="91440" tIns="45720" rIns="91440" bIns="45720" anchor="ctr"/>
          <a:lstStyle/>
          <a:p>
            <a:r>
              <a:rPr lang="pt-PT" err="1">
                <a:latin typeface="Calibri"/>
                <a:ea typeface="Calibri"/>
                <a:cs typeface="Calibri"/>
              </a:rPr>
              <a:t>Understanding</a:t>
            </a:r>
            <a:r>
              <a:rPr lang="pt-PT">
                <a:latin typeface="Calibri"/>
                <a:ea typeface="Calibri"/>
                <a:cs typeface="Calibri"/>
              </a:rPr>
              <a:t> </a:t>
            </a:r>
            <a:r>
              <a:rPr lang="pt-PT" err="1">
                <a:latin typeface="Calibri"/>
                <a:ea typeface="Calibri"/>
                <a:cs typeface="Calibri"/>
              </a:rPr>
              <a:t>the</a:t>
            </a:r>
            <a:r>
              <a:rPr lang="pt-PT">
                <a:latin typeface="Calibri"/>
                <a:ea typeface="Calibri"/>
                <a:cs typeface="Calibri"/>
              </a:rPr>
              <a:t> </a:t>
            </a:r>
            <a:r>
              <a:rPr lang="pt-PT" err="1">
                <a:latin typeface="Calibri"/>
                <a:ea typeface="Calibri"/>
                <a:cs typeface="Calibri"/>
              </a:rPr>
              <a:t>Onboard</a:t>
            </a:r>
            <a:r>
              <a:rPr lang="pt-PT">
                <a:latin typeface="Calibri"/>
                <a:ea typeface="Calibri"/>
                <a:cs typeface="Calibri"/>
              </a:rPr>
              <a:t> </a:t>
            </a:r>
            <a:r>
              <a:rPr lang="pt-PT" err="1">
                <a:latin typeface="Calibri"/>
                <a:ea typeface="Calibri"/>
                <a:cs typeface="Calibri"/>
              </a:rPr>
              <a:t>Challenge</a:t>
            </a:r>
            <a:endParaRPr lang="pt-PT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BEB8B-DAA7-8026-B60B-FE17930FB54C}"/>
              </a:ext>
            </a:extLst>
          </p:cNvPr>
          <p:cNvSpPr txBox="1"/>
          <p:nvPr/>
        </p:nvSpPr>
        <p:spPr>
          <a:xfrm>
            <a:off x="1030077" y="1560143"/>
            <a:ext cx="2122968" cy="574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2800" b="1" i="0">
                <a:solidFill>
                  <a:srgbClr val="08183D"/>
                </a:solidFill>
                <a:latin typeface="Aptos"/>
              </a:rPr>
              <a:t>OUR SHIP: MV WORLD VOYAGER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811C4E1-2219-66FD-56C7-29E86806B664}"/>
              </a:ext>
            </a:extLst>
          </p:cNvPr>
          <p:cNvCxnSpPr>
            <a:cxnSpLocks/>
          </p:cNvCxnSpPr>
          <p:nvPr/>
        </p:nvCxnSpPr>
        <p:spPr>
          <a:xfrm>
            <a:off x="1030077" y="2249914"/>
            <a:ext cx="1903096" cy="0"/>
          </a:xfrm>
          <a:prstGeom prst="line">
            <a:avLst/>
          </a:prstGeom>
          <a:ln w="25400">
            <a:solidFill>
              <a:srgbClr val="237B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A66A39-ABB9-A309-0D9F-2651808652F2}"/>
              </a:ext>
            </a:extLst>
          </p:cNvPr>
          <p:cNvSpPr txBox="1"/>
          <p:nvPr/>
        </p:nvSpPr>
        <p:spPr>
          <a:xfrm>
            <a:off x="6696228" y="1593052"/>
            <a:ext cx="2278487" cy="574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2800" b="1" i="0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CONNECTIVITY CHALLENGES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8202368-11B2-255D-9A7F-1BE95E1F41A8}"/>
              </a:ext>
            </a:extLst>
          </p:cNvPr>
          <p:cNvCxnSpPr>
            <a:cxnSpLocks/>
          </p:cNvCxnSpPr>
          <p:nvPr/>
        </p:nvCxnSpPr>
        <p:spPr>
          <a:xfrm>
            <a:off x="6714813" y="2295354"/>
            <a:ext cx="2048636" cy="0"/>
          </a:xfrm>
          <a:prstGeom prst="line">
            <a:avLst/>
          </a:prstGeom>
          <a:ln w="25400">
            <a:solidFill>
              <a:srgbClr val="237B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8039FD-4C91-AAD3-8B9B-6C449103DA16}"/>
              </a:ext>
            </a:extLst>
          </p:cNvPr>
          <p:cNvSpPr/>
          <p:nvPr/>
        </p:nvSpPr>
        <p:spPr>
          <a:xfrm>
            <a:off x="976337" y="2625804"/>
            <a:ext cx="2010576" cy="758952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C7338-B370-7689-093B-6DCF9C2F5147}"/>
              </a:ext>
            </a:extLst>
          </p:cNvPr>
          <p:cNvSpPr txBox="1"/>
          <p:nvPr/>
        </p:nvSpPr>
        <p:spPr>
          <a:xfrm>
            <a:off x="1140929" y="2556158"/>
            <a:ext cx="5619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3600" b="1" i="0">
                <a:solidFill>
                  <a:srgbClr val="237BC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0D629-B94E-853E-E044-273D694C1FFA}"/>
              </a:ext>
            </a:extLst>
          </p:cNvPr>
          <p:cNvSpPr txBox="1"/>
          <p:nvPr/>
        </p:nvSpPr>
        <p:spPr>
          <a:xfrm>
            <a:off x="1137488" y="2942974"/>
            <a:ext cx="1336168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2800" b="0" i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Passengers</a:t>
            </a:r>
            <a:endParaRPr lang="pt-PT" sz="2800" b="0" i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00FBD83C-619E-D909-8ECD-BC9B8885EE44}"/>
              </a:ext>
            </a:extLst>
          </p:cNvPr>
          <p:cNvSpPr/>
          <p:nvPr/>
        </p:nvSpPr>
        <p:spPr>
          <a:xfrm>
            <a:off x="976337" y="3642295"/>
            <a:ext cx="2010576" cy="89344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3484C-8053-4613-4EAB-B5321CDE4D44}"/>
              </a:ext>
            </a:extLst>
          </p:cNvPr>
          <p:cNvSpPr txBox="1"/>
          <p:nvPr/>
        </p:nvSpPr>
        <p:spPr>
          <a:xfrm>
            <a:off x="1140929" y="3642812"/>
            <a:ext cx="5619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3600" b="1" i="0">
                <a:solidFill>
                  <a:srgbClr val="237BC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DAA77B-DBFD-0DAE-06E8-29CD860FAD41}"/>
              </a:ext>
            </a:extLst>
          </p:cNvPr>
          <p:cNvSpPr txBox="1"/>
          <p:nvPr/>
        </p:nvSpPr>
        <p:spPr>
          <a:xfrm>
            <a:off x="1137488" y="4024589"/>
            <a:ext cx="1736761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2800" b="0" i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Crew</a:t>
            </a:r>
            <a:r>
              <a:rPr lang="pt-PT" sz="28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800" b="0" i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members</a:t>
            </a:r>
            <a:endParaRPr lang="pt-PT" sz="2800" b="0" i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39DA455D-0292-49A0-14BA-9A88A5C025A1}"/>
              </a:ext>
            </a:extLst>
          </p:cNvPr>
          <p:cNvSpPr/>
          <p:nvPr/>
        </p:nvSpPr>
        <p:spPr>
          <a:xfrm>
            <a:off x="976337" y="4854215"/>
            <a:ext cx="2010576" cy="808906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05A2D-2360-039E-8B9C-B294D3CB1D2D}"/>
              </a:ext>
            </a:extLst>
          </p:cNvPr>
          <p:cNvSpPr txBox="1"/>
          <p:nvPr/>
        </p:nvSpPr>
        <p:spPr>
          <a:xfrm>
            <a:off x="1137488" y="4784805"/>
            <a:ext cx="5619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3600" b="1" i="0">
                <a:solidFill>
                  <a:srgbClr val="237BC9"/>
                </a:solidFill>
                <a:latin typeface="Aptos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A3BF1-7E8D-9570-E826-B1776764A907}"/>
              </a:ext>
            </a:extLst>
          </p:cNvPr>
          <p:cNvSpPr txBox="1"/>
          <p:nvPr/>
        </p:nvSpPr>
        <p:spPr>
          <a:xfrm>
            <a:off x="1137488" y="5171566"/>
            <a:ext cx="1411243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2800" b="0" i="0" err="1">
                <a:solidFill>
                  <a:srgbClr val="000000"/>
                </a:solidFill>
                <a:latin typeface="Aptos"/>
              </a:rPr>
              <a:t>Main</a:t>
            </a:r>
            <a:r>
              <a:rPr lang="pt-PT" sz="2800" b="0" i="0">
                <a:solidFill>
                  <a:srgbClr val="000000"/>
                </a:solidFill>
                <a:latin typeface="Aptos"/>
              </a:rPr>
              <a:t> decks</a:t>
            </a:r>
          </a:p>
        </p:txBody>
      </p:sp>
      <p:pic>
        <p:nvPicPr>
          <p:cNvPr id="19" name="Picture 18" descr="navio_slide2_rounded.png">
            <a:extLst>
              <a:ext uri="{FF2B5EF4-FFF2-40B4-BE49-F238E27FC236}">
                <a16:creationId xmlns:a16="http://schemas.microsoft.com/office/drawing/2014/main" id="{F6023AB6-9A04-D7F0-D11F-0670B31B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064" y="1629617"/>
            <a:ext cx="3335292" cy="4087368"/>
          </a:xfrm>
          <a:prstGeom prst="rect">
            <a:avLst/>
          </a:prstGeom>
        </p:spPr>
      </p:pic>
      <p:sp>
        <p:nvSpPr>
          <p:cNvPr id="20" name="Rounded Rectangle 45">
            <a:extLst>
              <a:ext uri="{FF2B5EF4-FFF2-40B4-BE49-F238E27FC236}">
                <a16:creationId xmlns:a16="http://schemas.microsoft.com/office/drawing/2014/main" id="{F37A5860-DB9E-AB87-CF12-5733B14064DB}"/>
              </a:ext>
            </a:extLst>
          </p:cNvPr>
          <p:cNvSpPr/>
          <p:nvPr/>
        </p:nvSpPr>
        <p:spPr>
          <a:xfrm>
            <a:off x="6696229" y="2569584"/>
            <a:ext cx="2197053" cy="589361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814E0-F925-E387-682A-0B00D6E7F85D}"/>
              </a:ext>
            </a:extLst>
          </p:cNvPr>
          <p:cNvSpPr txBox="1"/>
          <p:nvPr/>
        </p:nvSpPr>
        <p:spPr>
          <a:xfrm>
            <a:off x="6871595" y="2613596"/>
            <a:ext cx="2103120" cy="28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PT" sz="2800" i="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Metallic</a:t>
            </a:r>
            <a:r>
              <a:rPr lang="pt-PT" sz="2800" b="1" i="0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800" i="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lang="pt-PT" sz="2800" i="0">
              <a:solidFill>
                <a:srgbClr val="0818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ounded Rectangle 49">
            <a:extLst>
              <a:ext uri="{FF2B5EF4-FFF2-40B4-BE49-F238E27FC236}">
                <a16:creationId xmlns:a16="http://schemas.microsoft.com/office/drawing/2014/main" id="{4BAA8756-1015-9D66-E1B9-B550496F411D}"/>
              </a:ext>
            </a:extLst>
          </p:cNvPr>
          <p:cNvSpPr/>
          <p:nvPr/>
        </p:nvSpPr>
        <p:spPr>
          <a:xfrm>
            <a:off x="6696228" y="4392255"/>
            <a:ext cx="2197052" cy="772995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6" name="Rounded Rectangle 53">
            <a:extLst>
              <a:ext uri="{FF2B5EF4-FFF2-40B4-BE49-F238E27FC236}">
                <a16:creationId xmlns:a16="http://schemas.microsoft.com/office/drawing/2014/main" id="{8A2999D8-09DD-165F-FEE4-6FB194A6DFDF}"/>
              </a:ext>
            </a:extLst>
          </p:cNvPr>
          <p:cNvSpPr/>
          <p:nvPr/>
        </p:nvSpPr>
        <p:spPr>
          <a:xfrm>
            <a:off x="6724249" y="3434207"/>
            <a:ext cx="2197052" cy="682786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61F588-5777-02EC-B23C-9DEE708B6975}"/>
              </a:ext>
            </a:extLst>
          </p:cNvPr>
          <p:cNvSpPr txBox="1"/>
          <p:nvPr/>
        </p:nvSpPr>
        <p:spPr>
          <a:xfrm>
            <a:off x="6890180" y="4395696"/>
            <a:ext cx="1782356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PT" sz="2800" i="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Satellite</a:t>
            </a:r>
            <a:r>
              <a:rPr lang="pt-PT" sz="2800" i="0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80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Backhaul</a:t>
            </a:r>
            <a:r>
              <a:rPr lang="pt-PT" sz="2800" i="0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800" i="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pt-PT" sz="2800" i="0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2800" i="0" err="1">
                <a:solidFill>
                  <a:srgbClr val="0818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</a:t>
            </a:r>
            <a:endParaRPr lang="pt-PT" sz="2800" i="0">
              <a:solidFill>
                <a:srgbClr val="08183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ounded Rectangle 57">
            <a:extLst>
              <a:ext uri="{FF2B5EF4-FFF2-40B4-BE49-F238E27FC236}">
                <a16:creationId xmlns:a16="http://schemas.microsoft.com/office/drawing/2014/main" id="{04F7784E-270C-AE28-6342-7169F8011079}"/>
              </a:ext>
            </a:extLst>
          </p:cNvPr>
          <p:cNvSpPr/>
          <p:nvPr/>
        </p:nvSpPr>
        <p:spPr>
          <a:xfrm>
            <a:off x="6696228" y="5440512"/>
            <a:ext cx="2197052" cy="772995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91E7BF-B22B-818B-E0FA-CE8E46E71A26}"/>
              </a:ext>
            </a:extLst>
          </p:cNvPr>
          <p:cNvSpPr txBox="1"/>
          <p:nvPr/>
        </p:nvSpPr>
        <p:spPr>
          <a:xfrm>
            <a:off x="6718360" y="5446036"/>
            <a:ext cx="2197052" cy="5745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PT" sz="2800" i="0" err="1">
                <a:solidFill>
                  <a:srgbClr val="08183D"/>
                </a:solidFill>
                <a:latin typeface="Aptos"/>
              </a:rPr>
              <a:t>Port</a:t>
            </a:r>
            <a:r>
              <a:rPr lang="pt-PT" sz="2800" i="0">
                <a:solidFill>
                  <a:srgbClr val="08183D"/>
                </a:solidFill>
                <a:latin typeface="Aptos"/>
              </a:rPr>
              <a:t> </a:t>
            </a:r>
            <a:r>
              <a:rPr lang="pt-PT" sz="2800" i="0" err="1">
                <a:solidFill>
                  <a:srgbClr val="08183D"/>
                </a:solidFill>
                <a:latin typeface="Aptos"/>
              </a:rPr>
              <a:t>Shutdown</a:t>
            </a:r>
            <a:r>
              <a:rPr lang="pt-PT" sz="2800" i="0">
                <a:solidFill>
                  <a:srgbClr val="08183D"/>
                </a:solidFill>
                <a:latin typeface="Aptos"/>
              </a:rPr>
              <a:t> </a:t>
            </a:r>
            <a:r>
              <a:rPr lang="pt-PT" sz="2800" i="0" err="1">
                <a:solidFill>
                  <a:srgbClr val="08183D"/>
                </a:solidFill>
                <a:latin typeface="Aptos"/>
              </a:rPr>
              <a:t>Requirement</a:t>
            </a:r>
            <a:endParaRPr lang="pt-PT" sz="2800" i="0">
              <a:solidFill>
                <a:srgbClr val="08183D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BFFF6B-2A1D-D891-C809-53214D41DB17}"/>
              </a:ext>
            </a:extLst>
          </p:cNvPr>
          <p:cNvSpPr txBox="1"/>
          <p:nvPr/>
        </p:nvSpPr>
        <p:spPr>
          <a:xfrm>
            <a:off x="6856944" y="3415070"/>
            <a:ext cx="2013096" cy="574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Compartmentalized Layout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164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D637-AE5F-CD37-6437-CCB37D4A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4">
            <a:extLst>
              <a:ext uri="{FF2B5EF4-FFF2-40B4-BE49-F238E27FC236}">
                <a16:creationId xmlns:a16="http://schemas.microsoft.com/office/drawing/2014/main" id="{6D50652C-AB52-A45D-9826-437FA4473C39}"/>
              </a:ext>
            </a:extLst>
          </p:cNvPr>
          <p:cNvSpPr/>
          <p:nvPr/>
        </p:nvSpPr>
        <p:spPr>
          <a:xfrm>
            <a:off x="1325880" y="2839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>
                <a:solidFill>
                  <a:srgbClr val="009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Assumptions &amp; Requirements</a:t>
            </a:r>
            <a:endParaRPr lang="en-US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26812FC7-8A29-CA88-DF8B-3A8636F2474B}"/>
              </a:ext>
            </a:extLst>
          </p:cNvPr>
          <p:cNvSpPr/>
          <p:nvPr/>
        </p:nvSpPr>
        <p:spPr>
          <a:xfrm>
            <a:off x="1273533" y="729035"/>
            <a:ext cx="2926080" cy="5339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0096D6"/>
                </a:solidFill>
                <a:latin typeface="Arial"/>
                <a:ea typeface="Calibri"/>
                <a:cs typeface="Arial"/>
              </a:rPr>
              <a:t>Scope</a:t>
            </a: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4F938260-4F76-06CF-ED0E-34BCAD74FEDA}"/>
              </a:ext>
            </a:extLst>
          </p:cNvPr>
          <p:cNvSpPr/>
          <p:nvPr/>
        </p:nvSpPr>
        <p:spPr>
          <a:xfrm>
            <a:off x="1200180" y="2716312"/>
            <a:ext cx="4389120" cy="568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0096D6"/>
                </a:solidFill>
                <a:latin typeface="Calibri"/>
                <a:ea typeface="Calibri"/>
                <a:cs typeface="Calibri"/>
              </a:rPr>
              <a:t>Assumptions and Constraints</a:t>
            </a:r>
            <a:endParaRPr lang="en-US" sz="3600" b="1">
              <a:latin typeface="Calibri"/>
              <a:ea typeface="Calibri"/>
              <a:cs typeface="Calibri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FBC3421F-FC41-2EA9-C048-96EFBF68ADC0}"/>
              </a:ext>
            </a:extLst>
          </p:cNvPr>
          <p:cNvSpPr/>
          <p:nvPr/>
        </p:nvSpPr>
        <p:spPr>
          <a:xfrm>
            <a:off x="1171199" y="4988150"/>
            <a:ext cx="3840480" cy="49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0096D6"/>
                </a:solidFill>
                <a:latin typeface="Calibri"/>
                <a:ea typeface="Calibri"/>
                <a:cs typeface="Calibri"/>
              </a:rPr>
              <a:t>Requirement</a:t>
            </a:r>
            <a:endParaRPr lang="en-US" sz="36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Rounded Rectangle 45">
            <a:extLst>
              <a:ext uri="{FF2B5EF4-FFF2-40B4-BE49-F238E27FC236}">
                <a16:creationId xmlns:a16="http://schemas.microsoft.com/office/drawing/2014/main" id="{38205575-300A-D435-FAF5-48FF5F03031B}"/>
              </a:ext>
            </a:extLst>
          </p:cNvPr>
          <p:cNvSpPr/>
          <p:nvPr/>
        </p:nvSpPr>
        <p:spPr>
          <a:xfrm>
            <a:off x="1235293" y="1389442"/>
            <a:ext cx="2681025" cy="55847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FF1EDE69-438E-0AE4-3DFB-643658C3FAD8}"/>
              </a:ext>
            </a:extLst>
          </p:cNvPr>
          <p:cNvSpPr txBox="1"/>
          <p:nvPr/>
        </p:nvSpPr>
        <p:spPr>
          <a:xfrm>
            <a:off x="1316828" y="1443058"/>
            <a:ext cx="2566497" cy="2872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Radio-</a:t>
            </a:r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frequency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Planning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" name="Rounded Rectangle 45">
            <a:extLst>
              <a:ext uri="{FF2B5EF4-FFF2-40B4-BE49-F238E27FC236}">
                <a16:creationId xmlns:a16="http://schemas.microsoft.com/office/drawing/2014/main" id="{86221E9C-C9C4-B925-3772-6DFC00C9527B}"/>
              </a:ext>
            </a:extLst>
          </p:cNvPr>
          <p:cNvSpPr/>
          <p:nvPr/>
        </p:nvSpPr>
        <p:spPr>
          <a:xfrm>
            <a:off x="3995355" y="1399739"/>
            <a:ext cx="2003039" cy="548173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A901243C-A205-A083-9A4D-44834162693A}"/>
              </a:ext>
            </a:extLst>
          </p:cNvPr>
          <p:cNvSpPr txBox="1"/>
          <p:nvPr/>
        </p:nvSpPr>
        <p:spPr>
          <a:xfrm>
            <a:off x="4134610" y="1446282"/>
            <a:ext cx="1732513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Base Stations</a:t>
            </a:r>
          </a:p>
        </p:txBody>
      </p:sp>
      <p:sp>
        <p:nvSpPr>
          <p:cNvPr id="8" name="Rounded Rectangle 45">
            <a:extLst>
              <a:ext uri="{FF2B5EF4-FFF2-40B4-BE49-F238E27FC236}">
                <a16:creationId xmlns:a16="http://schemas.microsoft.com/office/drawing/2014/main" id="{B52F679A-3FD5-DF45-B278-709442A6E54C}"/>
              </a:ext>
            </a:extLst>
          </p:cNvPr>
          <p:cNvSpPr/>
          <p:nvPr/>
        </p:nvSpPr>
        <p:spPr>
          <a:xfrm>
            <a:off x="6077432" y="1399739"/>
            <a:ext cx="2133822" cy="548173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F2E4F8C3-D01C-73B1-5411-EEBCB1EFB019}"/>
              </a:ext>
            </a:extLst>
          </p:cNvPr>
          <p:cNvSpPr txBox="1"/>
          <p:nvPr/>
        </p:nvSpPr>
        <p:spPr>
          <a:xfrm>
            <a:off x="6340302" y="1443058"/>
            <a:ext cx="1625691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Port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Shutdown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45">
            <a:extLst>
              <a:ext uri="{FF2B5EF4-FFF2-40B4-BE49-F238E27FC236}">
                <a16:creationId xmlns:a16="http://schemas.microsoft.com/office/drawing/2014/main" id="{B992C12A-4746-CF79-60C9-5A3CB6E0BF18}"/>
              </a:ext>
            </a:extLst>
          </p:cNvPr>
          <p:cNvSpPr/>
          <p:nvPr/>
        </p:nvSpPr>
        <p:spPr>
          <a:xfrm>
            <a:off x="1204017" y="1986301"/>
            <a:ext cx="2290978" cy="619099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25CCEB89-95BD-207E-62C6-822C9B28E279}"/>
              </a:ext>
            </a:extLst>
          </p:cNvPr>
          <p:cNvSpPr txBox="1"/>
          <p:nvPr/>
        </p:nvSpPr>
        <p:spPr>
          <a:xfrm>
            <a:off x="1904352" y="2048391"/>
            <a:ext cx="1054814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Antennas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ounded Rectangle 45">
            <a:extLst>
              <a:ext uri="{FF2B5EF4-FFF2-40B4-BE49-F238E27FC236}">
                <a16:creationId xmlns:a16="http://schemas.microsoft.com/office/drawing/2014/main" id="{04FEFCD9-8F4A-9575-CBDA-1CE31751BF7D}"/>
              </a:ext>
            </a:extLst>
          </p:cNvPr>
          <p:cNvSpPr/>
          <p:nvPr/>
        </p:nvSpPr>
        <p:spPr>
          <a:xfrm>
            <a:off x="3595397" y="1996214"/>
            <a:ext cx="2021803" cy="621023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147092A-2548-36BF-6A74-6540F67D7B3E}"/>
              </a:ext>
            </a:extLst>
          </p:cNvPr>
          <p:cNvSpPr txBox="1"/>
          <p:nvPr/>
        </p:nvSpPr>
        <p:spPr>
          <a:xfrm>
            <a:off x="3890245" y="2085597"/>
            <a:ext cx="1444093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Wi-Fi</a:t>
            </a:r>
          </a:p>
        </p:txBody>
      </p:sp>
      <p:sp>
        <p:nvSpPr>
          <p:cNvPr id="14" name="Rounded Rectangle 45">
            <a:extLst>
              <a:ext uri="{FF2B5EF4-FFF2-40B4-BE49-F238E27FC236}">
                <a16:creationId xmlns:a16="http://schemas.microsoft.com/office/drawing/2014/main" id="{45FAC884-9FE4-EB5F-45FF-56F89F771D2D}"/>
              </a:ext>
            </a:extLst>
          </p:cNvPr>
          <p:cNvSpPr/>
          <p:nvPr/>
        </p:nvSpPr>
        <p:spPr>
          <a:xfrm>
            <a:off x="5717604" y="1996597"/>
            <a:ext cx="2497018" cy="609956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93F52B31-AF81-8513-C872-29AD955A0019}"/>
              </a:ext>
            </a:extLst>
          </p:cNvPr>
          <p:cNvSpPr txBox="1"/>
          <p:nvPr/>
        </p:nvSpPr>
        <p:spPr>
          <a:xfrm>
            <a:off x="6041623" y="2056456"/>
            <a:ext cx="2010251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Backhaul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Integration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ounded Rectangle 45">
            <a:extLst>
              <a:ext uri="{FF2B5EF4-FFF2-40B4-BE49-F238E27FC236}">
                <a16:creationId xmlns:a16="http://schemas.microsoft.com/office/drawing/2014/main" id="{28AAC533-B94F-FFCE-6B60-3D6B5E5FF9D0}"/>
              </a:ext>
            </a:extLst>
          </p:cNvPr>
          <p:cNvSpPr/>
          <p:nvPr/>
        </p:nvSpPr>
        <p:spPr>
          <a:xfrm>
            <a:off x="1192563" y="3365658"/>
            <a:ext cx="2221690" cy="61188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6C98C085-0980-B7F8-D630-A6EA882D3F64}"/>
              </a:ext>
            </a:extLst>
          </p:cNvPr>
          <p:cNvSpPr txBox="1"/>
          <p:nvPr/>
        </p:nvSpPr>
        <p:spPr>
          <a:xfrm>
            <a:off x="1302922" y="3446052"/>
            <a:ext cx="2064433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Deck </a:t>
            </a:r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Documentation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0" name="Rounded Rectangle 45">
            <a:extLst>
              <a:ext uri="{FF2B5EF4-FFF2-40B4-BE49-F238E27FC236}">
                <a16:creationId xmlns:a16="http://schemas.microsoft.com/office/drawing/2014/main" id="{1FF552DE-A754-C1E4-2AFE-BAEFD7956BF0}"/>
              </a:ext>
            </a:extLst>
          </p:cNvPr>
          <p:cNvSpPr/>
          <p:nvPr/>
        </p:nvSpPr>
        <p:spPr>
          <a:xfrm>
            <a:off x="3478564" y="3354976"/>
            <a:ext cx="2371239" cy="633244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B5C204-06FC-D948-002E-6D1C40D3251F}"/>
              </a:ext>
            </a:extLst>
          </p:cNvPr>
          <p:cNvSpPr txBox="1"/>
          <p:nvPr/>
        </p:nvSpPr>
        <p:spPr>
          <a:xfrm>
            <a:off x="3823971" y="3436890"/>
            <a:ext cx="1765329" cy="297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Satellite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Provider </a:t>
            </a:r>
          </a:p>
        </p:txBody>
      </p:sp>
      <p:sp>
        <p:nvSpPr>
          <p:cNvPr id="25" name="Rounded Rectangle 45">
            <a:extLst>
              <a:ext uri="{FF2B5EF4-FFF2-40B4-BE49-F238E27FC236}">
                <a16:creationId xmlns:a16="http://schemas.microsoft.com/office/drawing/2014/main" id="{A22EEED3-554A-A280-2723-9722245A9C83}"/>
              </a:ext>
            </a:extLst>
          </p:cNvPr>
          <p:cNvSpPr/>
          <p:nvPr/>
        </p:nvSpPr>
        <p:spPr>
          <a:xfrm>
            <a:off x="5914117" y="3344293"/>
            <a:ext cx="2360558" cy="643926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DC1E1CB5-9839-B215-35F4-383145D5E451}"/>
              </a:ext>
            </a:extLst>
          </p:cNvPr>
          <p:cNvSpPr txBox="1"/>
          <p:nvPr/>
        </p:nvSpPr>
        <p:spPr>
          <a:xfrm>
            <a:off x="6556467" y="3429217"/>
            <a:ext cx="1263265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Regulation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 </a:t>
            </a:r>
          </a:p>
        </p:txBody>
      </p:sp>
      <p:sp>
        <p:nvSpPr>
          <p:cNvPr id="28" name="Rounded Rectangle 45">
            <a:extLst>
              <a:ext uri="{FF2B5EF4-FFF2-40B4-BE49-F238E27FC236}">
                <a16:creationId xmlns:a16="http://schemas.microsoft.com/office/drawing/2014/main" id="{79E23AF7-A191-1EE4-8945-CEBD38604602}"/>
              </a:ext>
            </a:extLst>
          </p:cNvPr>
          <p:cNvSpPr/>
          <p:nvPr/>
        </p:nvSpPr>
        <p:spPr>
          <a:xfrm>
            <a:off x="1171199" y="4070687"/>
            <a:ext cx="1787967" cy="643926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6C052613-3FD4-C224-63ED-46BA22E58D89}"/>
              </a:ext>
            </a:extLst>
          </p:cNvPr>
          <p:cNvSpPr txBox="1"/>
          <p:nvPr/>
        </p:nvSpPr>
        <p:spPr>
          <a:xfrm>
            <a:off x="1273533" y="4162426"/>
            <a:ext cx="1634167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80; 100; 120 €/h</a:t>
            </a:r>
          </a:p>
        </p:txBody>
      </p:sp>
      <p:sp>
        <p:nvSpPr>
          <p:cNvPr id="30" name="Rounded Rectangle 45">
            <a:extLst>
              <a:ext uri="{FF2B5EF4-FFF2-40B4-BE49-F238E27FC236}">
                <a16:creationId xmlns:a16="http://schemas.microsoft.com/office/drawing/2014/main" id="{9C8CDF6E-9BE2-C27E-088D-8F240C53FEB9}"/>
              </a:ext>
            </a:extLst>
          </p:cNvPr>
          <p:cNvSpPr/>
          <p:nvPr/>
        </p:nvSpPr>
        <p:spPr>
          <a:xfrm>
            <a:off x="3018796" y="4060005"/>
            <a:ext cx="1613234" cy="633244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5FC77048-85BA-A005-3789-B45FCE150412}"/>
              </a:ext>
            </a:extLst>
          </p:cNvPr>
          <p:cNvSpPr txBox="1"/>
          <p:nvPr/>
        </p:nvSpPr>
        <p:spPr>
          <a:xfrm>
            <a:off x="3341858" y="4143659"/>
            <a:ext cx="1177805" cy="297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Shutdown</a:t>
            </a:r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2" name="Rounded Rectangle 45">
            <a:extLst>
              <a:ext uri="{FF2B5EF4-FFF2-40B4-BE49-F238E27FC236}">
                <a16:creationId xmlns:a16="http://schemas.microsoft.com/office/drawing/2014/main" id="{08624373-E1B8-A569-F11D-C7D26A3ACAF4}"/>
              </a:ext>
            </a:extLst>
          </p:cNvPr>
          <p:cNvSpPr/>
          <p:nvPr/>
        </p:nvSpPr>
        <p:spPr>
          <a:xfrm>
            <a:off x="4685657" y="4070687"/>
            <a:ext cx="1698260" cy="622562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4881BF52-83A5-12F4-473F-70C618792F87}"/>
              </a:ext>
            </a:extLst>
          </p:cNvPr>
          <p:cNvSpPr txBox="1"/>
          <p:nvPr/>
        </p:nvSpPr>
        <p:spPr>
          <a:xfrm>
            <a:off x="5076759" y="4135014"/>
            <a:ext cx="1124394" cy="297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Deadlines</a:t>
            </a:r>
            <a:endParaRPr lang="pt-PT"/>
          </a:p>
        </p:txBody>
      </p:sp>
      <p:sp>
        <p:nvSpPr>
          <p:cNvPr id="36" name="Rounded Rectangle 45">
            <a:extLst>
              <a:ext uri="{FF2B5EF4-FFF2-40B4-BE49-F238E27FC236}">
                <a16:creationId xmlns:a16="http://schemas.microsoft.com/office/drawing/2014/main" id="{6FB38F16-FA12-8AC5-19E0-61D804C19A67}"/>
              </a:ext>
            </a:extLst>
          </p:cNvPr>
          <p:cNvSpPr/>
          <p:nvPr/>
        </p:nvSpPr>
        <p:spPr>
          <a:xfrm>
            <a:off x="6426865" y="4070687"/>
            <a:ext cx="1858491" cy="633244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05EA9988-4F56-0162-2158-CB39CCE2A44D}"/>
              </a:ext>
            </a:extLst>
          </p:cNvPr>
          <p:cNvSpPr txBox="1"/>
          <p:nvPr/>
        </p:nvSpPr>
        <p:spPr>
          <a:xfrm>
            <a:off x="6900845" y="4151744"/>
            <a:ext cx="2555814" cy="297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 err="1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Aesthetic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Rounded Rectangle 45">
            <a:extLst>
              <a:ext uri="{FF2B5EF4-FFF2-40B4-BE49-F238E27FC236}">
                <a16:creationId xmlns:a16="http://schemas.microsoft.com/office/drawing/2014/main" id="{35C95852-AADE-36C1-65FD-6725302A3D4C}"/>
              </a:ext>
            </a:extLst>
          </p:cNvPr>
          <p:cNvSpPr/>
          <p:nvPr/>
        </p:nvSpPr>
        <p:spPr>
          <a:xfrm>
            <a:off x="1192566" y="5587564"/>
            <a:ext cx="2232369" cy="675972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667D02DA-B2F5-1F27-94B1-2C44DFC196BF}"/>
              </a:ext>
            </a:extLst>
          </p:cNvPr>
          <p:cNvSpPr txBox="1"/>
          <p:nvPr/>
        </p:nvSpPr>
        <p:spPr>
          <a:xfrm>
            <a:off x="1904352" y="5711895"/>
            <a:ext cx="921433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Business</a:t>
            </a:r>
          </a:p>
        </p:txBody>
      </p:sp>
      <p:sp>
        <p:nvSpPr>
          <p:cNvPr id="40" name="Rounded Rectangle 45">
            <a:extLst>
              <a:ext uri="{FF2B5EF4-FFF2-40B4-BE49-F238E27FC236}">
                <a16:creationId xmlns:a16="http://schemas.microsoft.com/office/drawing/2014/main" id="{8802C1F1-6421-90AD-F36E-E75E35C6ED1A}"/>
              </a:ext>
            </a:extLst>
          </p:cNvPr>
          <p:cNvSpPr/>
          <p:nvPr/>
        </p:nvSpPr>
        <p:spPr>
          <a:xfrm>
            <a:off x="3467883" y="5598246"/>
            <a:ext cx="2413968" cy="665290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8090D203-FD80-1DD9-7BC1-7DB26E4B791A}"/>
              </a:ext>
            </a:extLst>
          </p:cNvPr>
          <p:cNvSpPr txBox="1"/>
          <p:nvPr/>
        </p:nvSpPr>
        <p:spPr>
          <a:xfrm>
            <a:off x="4222211" y="5693179"/>
            <a:ext cx="1850787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Technical</a:t>
            </a:r>
          </a:p>
        </p:txBody>
      </p:sp>
      <p:sp>
        <p:nvSpPr>
          <p:cNvPr id="42" name="Rounded Rectangle 45">
            <a:extLst>
              <a:ext uri="{FF2B5EF4-FFF2-40B4-BE49-F238E27FC236}">
                <a16:creationId xmlns:a16="http://schemas.microsoft.com/office/drawing/2014/main" id="{39486525-2C72-33BF-E02B-BDA5A49A2CE6}"/>
              </a:ext>
            </a:extLst>
          </p:cNvPr>
          <p:cNvSpPr/>
          <p:nvPr/>
        </p:nvSpPr>
        <p:spPr>
          <a:xfrm>
            <a:off x="5935481" y="5598246"/>
            <a:ext cx="2435334" cy="66529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E2E5AEC2-9AA9-80E5-088B-77D4938FA780}"/>
              </a:ext>
            </a:extLst>
          </p:cNvPr>
          <p:cNvSpPr txBox="1"/>
          <p:nvPr/>
        </p:nvSpPr>
        <p:spPr>
          <a:xfrm>
            <a:off x="6123836" y="5693179"/>
            <a:ext cx="2128525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PT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70554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2438-405B-3191-FD8E-823C236E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323F43C-F72F-A496-11CD-5D7C283F9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 rot="16200000">
            <a:off x="-3634489" y="2816966"/>
            <a:ext cx="80645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PT" err="1"/>
              <a:t>Stakeholders</a:t>
            </a:r>
            <a:endParaRPr lang="en-GB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6D07D-BCB3-BA43-AA47-8C595763ABC6}"/>
              </a:ext>
            </a:extLst>
          </p:cNvPr>
          <p:cNvSpPr txBox="1"/>
          <p:nvPr/>
        </p:nvSpPr>
        <p:spPr>
          <a:xfrm>
            <a:off x="4009498" y="1310850"/>
            <a:ext cx="2834640" cy="203133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rPr sz="1800"/>
              <a:t>MV Voyager Telecom Project</a:t>
            </a:r>
          </a:p>
        </p:txBody>
      </p:sp>
      <p:pic>
        <p:nvPicPr>
          <p:cNvPr id="27" name="Imagem 26" descr="Uma imagem com texto, captura de ecrã, diagrama&#10;&#10;Os conteúdos gerados por IA poderão estar incorretos.">
            <a:extLst>
              <a:ext uri="{FF2B5EF4-FFF2-40B4-BE49-F238E27FC236}">
                <a16:creationId xmlns:a16="http://schemas.microsoft.com/office/drawing/2014/main" id="{643A05F6-ECD7-409E-FC57-A0DA935FA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49" y="3911780"/>
            <a:ext cx="4608939" cy="2704119"/>
          </a:xfrm>
          <a:prstGeom prst="rect">
            <a:avLst/>
          </a:prstGeom>
        </p:spPr>
      </p:pic>
      <p:pic>
        <p:nvPicPr>
          <p:cNvPr id="49" name="Imagem 48" descr="Uma imagem com texto, diagrama, captura de ecrã, Esquema&#10;&#10;Os conteúdos gerados por IA poderão estar incorretos.">
            <a:extLst>
              <a:ext uri="{FF2B5EF4-FFF2-40B4-BE49-F238E27FC236}">
                <a16:creationId xmlns:a16="http://schemas.microsoft.com/office/drawing/2014/main" id="{7386A917-BAB6-0B30-B074-FF9DED1C5E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8" t="1184" r="1906" b="797"/>
          <a:stretch>
            <a:fillRect/>
          </a:stretch>
        </p:blipFill>
        <p:spPr>
          <a:xfrm>
            <a:off x="894945" y="77820"/>
            <a:ext cx="5749046" cy="3910741"/>
          </a:xfrm>
          <a:prstGeom prst="rect">
            <a:avLst/>
          </a:prstGeom>
        </p:spPr>
      </p:pic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E1ED1739-49CF-A851-394D-5CA1C2EA1500}"/>
              </a:ext>
            </a:extLst>
          </p:cNvPr>
          <p:cNvSpPr/>
          <p:nvPr/>
        </p:nvSpPr>
        <p:spPr>
          <a:xfrm>
            <a:off x="6845347" y="1691740"/>
            <a:ext cx="2010576" cy="530352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PT" sz="5400">
              <a:cs typeface="Times New Roman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7111E9-1B9E-0A59-3748-B231839D4C75}"/>
              </a:ext>
            </a:extLst>
          </p:cNvPr>
          <p:cNvSpPr/>
          <p:nvPr/>
        </p:nvSpPr>
        <p:spPr>
          <a:xfrm>
            <a:off x="6863884" y="2445503"/>
            <a:ext cx="2010576" cy="530352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PT" sz="5400">
              <a:cs typeface="Times New Roman"/>
            </a:endParaRPr>
          </a:p>
        </p:txBody>
      </p:sp>
      <p:sp>
        <p:nvSpPr>
          <p:cNvPr id="19" name="Rounded Rectangle 45">
            <a:extLst>
              <a:ext uri="{FF2B5EF4-FFF2-40B4-BE49-F238E27FC236}">
                <a16:creationId xmlns:a16="http://schemas.microsoft.com/office/drawing/2014/main" id="{E90A851A-4AAC-5C01-71C8-9EB58D60950B}"/>
              </a:ext>
            </a:extLst>
          </p:cNvPr>
          <p:cNvSpPr/>
          <p:nvPr/>
        </p:nvSpPr>
        <p:spPr>
          <a:xfrm>
            <a:off x="6863524" y="971989"/>
            <a:ext cx="2008927" cy="541994"/>
          </a:xfrm>
          <a:prstGeom prst="roundRect">
            <a:avLst/>
          </a:prstGeom>
          <a:solidFill>
            <a:srgbClr val="C5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36BED2A1-6100-7E90-757A-C3EA4A828C9A}"/>
              </a:ext>
            </a:extLst>
          </p:cNvPr>
          <p:cNvSpPr txBox="1"/>
          <p:nvPr/>
        </p:nvSpPr>
        <p:spPr>
          <a:xfrm>
            <a:off x="6844139" y="1671640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7 internal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503D24A9-B2D1-D49A-46D2-E724393493BC}"/>
              </a:ext>
            </a:extLst>
          </p:cNvPr>
          <p:cNvSpPr txBox="1"/>
          <p:nvPr/>
        </p:nvSpPr>
        <p:spPr>
          <a:xfrm>
            <a:off x="6862673" y="2425401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17 external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3EEE32BF-31DB-D615-8FCD-17136969B4E3}"/>
              </a:ext>
            </a:extLst>
          </p:cNvPr>
          <p:cNvSpPr txBox="1"/>
          <p:nvPr/>
        </p:nvSpPr>
        <p:spPr>
          <a:xfrm>
            <a:off x="6844138" y="954948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24 stakeholders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18D1D8BE-38CB-4589-1D76-0F61BA94BB8E}"/>
              </a:ext>
            </a:extLst>
          </p:cNvPr>
          <p:cNvSpPr/>
          <p:nvPr/>
        </p:nvSpPr>
        <p:spPr>
          <a:xfrm>
            <a:off x="6831681" y="4324352"/>
            <a:ext cx="2010576" cy="530352"/>
          </a:xfrm>
          <a:prstGeom prst="roundRect">
            <a:avLst/>
          </a:prstGeom>
          <a:solidFill>
            <a:srgbClr val="3FA63F">
              <a:alpha val="670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PT" sz="5400">
              <a:cs typeface="Times New Roman"/>
            </a:endParaRP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E24E6EDA-2FD8-74C9-4B76-E3D481316706}"/>
              </a:ext>
            </a:extLst>
          </p:cNvPr>
          <p:cNvSpPr/>
          <p:nvPr/>
        </p:nvSpPr>
        <p:spPr>
          <a:xfrm>
            <a:off x="6837860" y="5059580"/>
            <a:ext cx="2010576" cy="530352"/>
          </a:xfrm>
          <a:prstGeom prst="roundRect">
            <a:avLst/>
          </a:prstGeom>
          <a:solidFill>
            <a:srgbClr val="FDE100">
              <a:alpha val="725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PT" sz="5400">
              <a:cs typeface="Times New Roman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E4852ECB-E85C-AA4E-4131-DB8ABE333FED}"/>
              </a:ext>
            </a:extLst>
          </p:cNvPr>
          <p:cNvSpPr/>
          <p:nvPr/>
        </p:nvSpPr>
        <p:spPr>
          <a:xfrm>
            <a:off x="6831682" y="5807164"/>
            <a:ext cx="2010576" cy="530352"/>
          </a:xfrm>
          <a:prstGeom prst="roundRect">
            <a:avLst/>
          </a:prstGeom>
          <a:solidFill>
            <a:srgbClr val="FF3F3A">
              <a:alpha val="70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PT" sz="5400"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EC105-8600-649B-9429-CF1339D0BEBF}"/>
              </a:ext>
            </a:extLst>
          </p:cNvPr>
          <p:cNvSpPr txBox="1"/>
          <p:nvPr/>
        </p:nvSpPr>
        <p:spPr>
          <a:xfrm>
            <a:off x="6829160" y="4348651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8 Positive</a:t>
            </a:r>
            <a:endParaRPr lang="pt-PT" sz="28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F50E22BE-E257-D416-BC0D-7C365641BB3F}"/>
              </a:ext>
            </a:extLst>
          </p:cNvPr>
          <p:cNvSpPr txBox="1"/>
          <p:nvPr/>
        </p:nvSpPr>
        <p:spPr>
          <a:xfrm>
            <a:off x="6829160" y="5096235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08183D"/>
                </a:solidFill>
                <a:latin typeface="Calibri"/>
                <a:ea typeface="Calibri"/>
                <a:cs typeface="Calibri"/>
              </a:rPr>
              <a:t>15 Mixed/Neutral</a:t>
            </a:r>
            <a:endParaRPr lang="pt-PT" sz="2800">
              <a:solidFill>
                <a:srgbClr val="0818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9410BAAB-9C87-5758-F967-A23B102B78E5}"/>
              </a:ext>
            </a:extLst>
          </p:cNvPr>
          <p:cNvSpPr txBox="1"/>
          <p:nvPr/>
        </p:nvSpPr>
        <p:spPr>
          <a:xfrm>
            <a:off x="6842827" y="5805596"/>
            <a:ext cx="2013096" cy="287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 Negative</a:t>
            </a:r>
            <a:endParaRPr lang="pt-PT" sz="28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151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3D813-0F4C-B89D-5269-86F3B910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42" y="163837"/>
            <a:ext cx="8064896" cy="1224136"/>
          </a:xfrm>
        </p:spPr>
        <p:txBody>
          <a:bodyPr lIns="91440" tIns="45720" rIns="91440" bIns="45720" anchor="ctr"/>
          <a:lstStyle/>
          <a:p>
            <a:r>
              <a:rPr lang="pt-PT">
                <a:latin typeface="Calibri"/>
                <a:ea typeface="Calibri"/>
                <a:cs typeface="Calibri"/>
              </a:rPr>
              <a:t>Work </a:t>
            </a:r>
            <a:r>
              <a:rPr lang="pt-PT" err="1">
                <a:latin typeface="Calibri"/>
                <a:ea typeface="Calibri"/>
                <a:cs typeface="Calibri"/>
              </a:rPr>
              <a:t>Breakdown</a:t>
            </a:r>
            <a:r>
              <a:rPr lang="pt-PT">
                <a:latin typeface="Calibri"/>
                <a:ea typeface="Calibri"/>
                <a:cs typeface="Calibri"/>
              </a:rPr>
              <a:t> </a:t>
            </a:r>
            <a:r>
              <a:rPr lang="pt-PT" err="1">
                <a:latin typeface="Calibri"/>
                <a:ea typeface="Calibri"/>
                <a:cs typeface="Calibri"/>
              </a:rPr>
              <a:t>Structure</a:t>
            </a:r>
            <a:endParaRPr lang="pt-PT">
              <a:ea typeface="Calibri"/>
              <a:cs typeface="Calibri"/>
            </a:endParaRPr>
          </a:p>
        </p:txBody>
      </p:sp>
      <p:pic>
        <p:nvPicPr>
          <p:cNvPr id="4" name="Marcador de Posição de Conteúdo 3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450A10C9-5C75-4393-554E-CA2C9E8C4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301" y="1846747"/>
            <a:ext cx="8263578" cy="32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CE58-FA04-16D4-D0D4-FD14B7C7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RACI Matrix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C43E702-2C68-9685-C2B0-736300BB2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39034"/>
              </p:ext>
            </p:extLst>
          </p:nvPr>
        </p:nvGraphicFramePr>
        <p:xfrm>
          <a:off x="1010784" y="1587348"/>
          <a:ext cx="7988541" cy="387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96">
                  <a:extLst>
                    <a:ext uri="{9D8B030D-6E8A-4147-A177-3AD203B41FA5}">
                      <a16:colId xmlns:a16="http://schemas.microsoft.com/office/drawing/2014/main" val="173151539"/>
                    </a:ext>
                  </a:extLst>
                </a:gridCol>
                <a:gridCol w="2114129">
                  <a:extLst>
                    <a:ext uri="{9D8B030D-6E8A-4147-A177-3AD203B41FA5}">
                      <a16:colId xmlns:a16="http://schemas.microsoft.com/office/drawing/2014/main" val="3762519738"/>
                    </a:ext>
                  </a:extLst>
                </a:gridCol>
                <a:gridCol w="1157409">
                  <a:extLst>
                    <a:ext uri="{9D8B030D-6E8A-4147-A177-3AD203B41FA5}">
                      <a16:colId xmlns:a16="http://schemas.microsoft.com/office/drawing/2014/main" val="3200202766"/>
                    </a:ext>
                  </a:extLst>
                </a:gridCol>
                <a:gridCol w="794973">
                  <a:extLst>
                    <a:ext uri="{9D8B030D-6E8A-4147-A177-3AD203B41FA5}">
                      <a16:colId xmlns:a16="http://schemas.microsoft.com/office/drawing/2014/main" val="3485203133"/>
                    </a:ext>
                  </a:extLst>
                </a:gridCol>
                <a:gridCol w="809062">
                  <a:extLst>
                    <a:ext uri="{9D8B030D-6E8A-4147-A177-3AD203B41FA5}">
                      <a16:colId xmlns:a16="http://schemas.microsoft.com/office/drawing/2014/main" val="1606411263"/>
                    </a:ext>
                  </a:extLst>
                </a:gridCol>
                <a:gridCol w="787224">
                  <a:extLst>
                    <a:ext uri="{9D8B030D-6E8A-4147-A177-3AD203B41FA5}">
                      <a16:colId xmlns:a16="http://schemas.microsoft.com/office/drawing/2014/main" val="1503191042"/>
                    </a:ext>
                  </a:extLst>
                </a:gridCol>
                <a:gridCol w="787224">
                  <a:extLst>
                    <a:ext uri="{9D8B030D-6E8A-4147-A177-3AD203B41FA5}">
                      <a16:colId xmlns:a16="http://schemas.microsoft.com/office/drawing/2014/main" val="1634438578"/>
                    </a:ext>
                  </a:extLst>
                </a:gridCol>
                <a:gridCol w="787224">
                  <a:extLst>
                    <a:ext uri="{9D8B030D-6E8A-4147-A177-3AD203B41FA5}">
                      <a16:colId xmlns:a16="http://schemas.microsoft.com/office/drawing/2014/main" val="646696554"/>
                    </a:ext>
                  </a:extLst>
                </a:gridCol>
              </a:tblGrid>
              <a:tr h="740844"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Code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Activity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Project Leader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Radio. Eng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Reg.</a:t>
                      </a:r>
                      <a:endParaRPr lang="pt-PT" sz="16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Dept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Bus. &amp;Sup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Constr(Ext)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Other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896304"/>
                  </a:ext>
                </a:extLst>
              </a:tr>
              <a:tr h="740844"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Wi-Fi AP Layout &amp;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lvl="0">
                        <a:buNone/>
                      </a:pP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Zone Design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FF711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Cybersecurity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solidFill>
                      <a:srgbClr val="0074E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989842"/>
                  </a:ext>
                </a:extLst>
              </a:tr>
              <a:tr h="824002"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Regulatory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Conformity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lvl="0">
                        <a:buNone/>
                      </a:pP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Analysis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>
                    <a:solidFill>
                      <a:srgbClr val="FF711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Reg. Agencies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3543"/>
                  </a:ext>
                </a:extLst>
              </a:tr>
              <a:tr h="824002"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Install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Cabling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Power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Base Stations &amp; </a:t>
                      </a:r>
                      <a:r>
                        <a:rPr lang="pt-PT" sz="1600" b="0" i="0" u="none" strike="noStrike" noProof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Anten</a:t>
                      </a: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lvl="0">
                        <a:buNone/>
                      </a:pP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nas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>
                    <a:solidFill>
                      <a:srgbClr val="FF711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solidFill>
                      <a:srgbClr val="0074E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Capt. &amp; Sec.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29859"/>
                  </a:ext>
                </a:extLst>
              </a:tr>
              <a:tr h="740844"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 b="0" i="0" u="none" strike="noStrike" noProof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Handover &amp; Sign-off</a:t>
                      </a:r>
                      <a:endParaRPr lang="pt-PT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R&amp;A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rgbClr val="7030A0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pt-PT" sz="1600" b="0" i="0" u="none" strike="noStrike" noProof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sz="160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</a:t>
                      </a:r>
                      <a:endParaRPr lang="pt-PT" sz="16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solidFill>
                      <a:srgbClr val="0070C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808202"/>
                  </a:ext>
                </a:extLst>
              </a:tr>
            </a:tbl>
          </a:graphicData>
        </a:graphic>
      </p:graphicFrame>
      <p:pic>
        <p:nvPicPr>
          <p:cNvPr id="8" name="Imagem 7" descr="Uma imagem com texto, Tipo de letra, design gráfico, Gráficos&#10;&#10;Os conteúdos gerados por IA poderão estar incorretos.">
            <a:extLst>
              <a:ext uri="{FF2B5EF4-FFF2-40B4-BE49-F238E27FC236}">
                <a16:creationId xmlns:a16="http://schemas.microsoft.com/office/drawing/2014/main" id="{C3BA5D42-08AE-FBE9-1CB8-C1026C53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94" y="5850924"/>
            <a:ext cx="7080422" cy="3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0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A6F7A1-3688-ADE0-215B-39C8AF2F3DC5}"/>
              </a:ext>
            </a:extLst>
          </p:cNvPr>
          <p:cNvSpPr/>
          <p:nvPr/>
        </p:nvSpPr>
        <p:spPr bwMode="auto">
          <a:xfrm>
            <a:off x="1060210" y="1349032"/>
            <a:ext cx="2035344" cy="616564"/>
          </a:xfrm>
          <a:prstGeom prst="roundRect">
            <a:avLst/>
          </a:prstGeom>
          <a:solidFill>
            <a:srgbClr val="0070C0">
              <a:alpha val="7607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D75CB4-00DA-FDB7-F543-3D519DAC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49" y="-29180"/>
            <a:ext cx="8064896" cy="1224136"/>
          </a:xfrm>
        </p:spPr>
        <p:txBody>
          <a:bodyPr lIns="91440" tIns="45720" rIns="91440" bIns="45720" anchor="ctr"/>
          <a:lstStyle/>
          <a:p>
            <a:r>
              <a:rPr lang="pt-PT" err="1">
                <a:latin typeface="Calibri"/>
                <a:ea typeface="Calibri"/>
                <a:cs typeface="Calibri"/>
              </a:rPr>
              <a:t>Resources</a:t>
            </a:r>
            <a:r>
              <a:rPr lang="pt-PT">
                <a:latin typeface="Calibri"/>
                <a:ea typeface="Calibri"/>
                <a:cs typeface="Calibri"/>
              </a:rPr>
              <a:t> &amp; </a:t>
            </a:r>
            <a:r>
              <a:rPr lang="pt-PT" err="1">
                <a:latin typeface="Calibri"/>
                <a:ea typeface="Calibri"/>
                <a:cs typeface="Calibri"/>
              </a:rPr>
              <a:t>Cost</a:t>
            </a:r>
            <a:r>
              <a:rPr lang="pt-PT">
                <a:latin typeface="Calibri"/>
                <a:ea typeface="Calibri"/>
                <a:cs typeface="Calibri"/>
              </a:rPr>
              <a:t> </a:t>
            </a:r>
            <a:r>
              <a:rPr lang="pt-PT" err="1">
                <a:latin typeface="Calibri"/>
                <a:ea typeface="Calibri"/>
                <a:cs typeface="Calibri"/>
              </a:rPr>
              <a:t>Analysis</a:t>
            </a:r>
            <a:endParaRPr lang="pt-PT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758E00-9607-CC0B-77B6-83CDD3C01395}"/>
              </a:ext>
            </a:extLst>
          </p:cNvPr>
          <p:cNvSpPr/>
          <p:nvPr/>
        </p:nvSpPr>
        <p:spPr bwMode="auto">
          <a:xfrm>
            <a:off x="1308683" y="1841967"/>
            <a:ext cx="2311121" cy="2089508"/>
          </a:xfrm>
          <a:prstGeom prst="roundRect">
            <a:avLst/>
          </a:prstGeom>
          <a:solidFill>
            <a:srgbClr val="009DE0">
              <a:alpha val="4078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B8159-80D1-943D-A4B4-B1D2A6CB959E}"/>
              </a:ext>
            </a:extLst>
          </p:cNvPr>
          <p:cNvSpPr txBox="1"/>
          <p:nvPr/>
        </p:nvSpPr>
        <p:spPr>
          <a:xfrm>
            <a:off x="1433595" y="1301158"/>
            <a:ext cx="1282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120 €/</a:t>
            </a:r>
            <a:r>
              <a:rPr lang="en-US" sz="3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endParaRPr lang="en-US" sz="3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622A7-0C48-144A-3A3B-D87184998761}"/>
              </a:ext>
            </a:extLst>
          </p:cNvPr>
          <p:cNvSpPr txBox="1"/>
          <p:nvPr/>
        </p:nvSpPr>
        <p:spPr>
          <a:xfrm>
            <a:off x="1433474" y="2117406"/>
            <a:ext cx="1989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Project Leader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04052-6968-16CE-E471-0465B69F81EA}"/>
              </a:ext>
            </a:extLst>
          </p:cNvPr>
          <p:cNvSpPr txBox="1"/>
          <p:nvPr/>
        </p:nvSpPr>
        <p:spPr>
          <a:xfrm>
            <a:off x="1435474" y="2647467"/>
            <a:ext cx="1989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Radio Eng. Sr.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B6D38-3175-4FFE-7CAF-8A88A305ADFC}"/>
              </a:ext>
            </a:extLst>
          </p:cNvPr>
          <p:cNvSpPr txBox="1"/>
          <p:nvPr/>
        </p:nvSpPr>
        <p:spPr>
          <a:xfrm>
            <a:off x="1427479" y="3177528"/>
            <a:ext cx="1989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Law Officer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E971C3-17A4-F432-412F-D0C5D7B84FB8}"/>
              </a:ext>
            </a:extLst>
          </p:cNvPr>
          <p:cNvSpPr/>
          <p:nvPr/>
        </p:nvSpPr>
        <p:spPr bwMode="auto">
          <a:xfrm>
            <a:off x="3619804" y="1349032"/>
            <a:ext cx="2035344" cy="616564"/>
          </a:xfrm>
          <a:prstGeom prst="roundRect">
            <a:avLst/>
          </a:prstGeom>
          <a:solidFill>
            <a:srgbClr val="0070C0">
              <a:alpha val="7607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D18F6D-75AC-092D-5E27-00D5D3EABE6E}"/>
              </a:ext>
            </a:extLst>
          </p:cNvPr>
          <p:cNvSpPr/>
          <p:nvPr/>
        </p:nvSpPr>
        <p:spPr bwMode="auto">
          <a:xfrm>
            <a:off x="3868277" y="1841967"/>
            <a:ext cx="2559594" cy="2089193"/>
          </a:xfrm>
          <a:prstGeom prst="roundRect">
            <a:avLst/>
          </a:prstGeom>
          <a:solidFill>
            <a:srgbClr val="009DE0">
              <a:alpha val="4078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7F25D-E842-DDDA-BC50-212A0AD556B4}"/>
              </a:ext>
            </a:extLst>
          </p:cNvPr>
          <p:cNvSpPr txBox="1"/>
          <p:nvPr/>
        </p:nvSpPr>
        <p:spPr>
          <a:xfrm>
            <a:off x="3993189" y="1301158"/>
            <a:ext cx="1282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100 €/</a:t>
            </a:r>
            <a:r>
              <a:rPr lang="en-US" sz="3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endParaRPr lang="en-US" sz="3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30303B-E4B7-2AC2-DE53-4FA19BEF0DA6}"/>
              </a:ext>
            </a:extLst>
          </p:cNvPr>
          <p:cNvSpPr txBox="1"/>
          <p:nvPr/>
        </p:nvSpPr>
        <p:spPr>
          <a:xfrm>
            <a:off x="4038379" y="2064045"/>
            <a:ext cx="1989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Radio Eng. (2)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D9BB6E-4B34-806C-57CE-BBDB25A6D5B0}"/>
              </a:ext>
            </a:extLst>
          </p:cNvPr>
          <p:cNvSpPr txBox="1"/>
          <p:nvPr/>
        </p:nvSpPr>
        <p:spPr>
          <a:xfrm>
            <a:off x="4016722" y="2530313"/>
            <a:ext cx="239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Regulation Officer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F86A18-9FAA-41D7-8E79-4752F2246816}"/>
              </a:ext>
            </a:extLst>
          </p:cNvPr>
          <p:cNvSpPr txBox="1"/>
          <p:nvPr/>
        </p:nvSpPr>
        <p:spPr>
          <a:xfrm>
            <a:off x="4038379" y="2996581"/>
            <a:ext cx="2174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Finance/</a:t>
            </a:r>
            <a:r>
              <a:rPr lang="en-US" sz="200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Mngm</a:t>
            </a: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Analyst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B01F90D-FBD7-6AD5-CAAE-83F53E9AC99A}"/>
              </a:ext>
            </a:extLst>
          </p:cNvPr>
          <p:cNvSpPr/>
          <p:nvPr/>
        </p:nvSpPr>
        <p:spPr bwMode="auto">
          <a:xfrm>
            <a:off x="6496613" y="1349030"/>
            <a:ext cx="2035344" cy="616565"/>
          </a:xfrm>
          <a:prstGeom prst="roundRect">
            <a:avLst/>
          </a:prstGeom>
          <a:solidFill>
            <a:srgbClr val="0070C0">
              <a:alpha val="7607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D01FE4E-6953-E7CD-5E24-CC16D841A395}"/>
              </a:ext>
            </a:extLst>
          </p:cNvPr>
          <p:cNvSpPr/>
          <p:nvPr/>
        </p:nvSpPr>
        <p:spPr bwMode="auto">
          <a:xfrm>
            <a:off x="6745087" y="1841967"/>
            <a:ext cx="2140462" cy="2089508"/>
          </a:xfrm>
          <a:prstGeom prst="roundRect">
            <a:avLst/>
          </a:prstGeom>
          <a:solidFill>
            <a:srgbClr val="009DE0">
              <a:alpha val="4078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2C456F-55B2-C97B-F03B-DF20BC9F3F56}"/>
              </a:ext>
            </a:extLst>
          </p:cNvPr>
          <p:cNvSpPr txBox="1"/>
          <p:nvPr/>
        </p:nvSpPr>
        <p:spPr>
          <a:xfrm>
            <a:off x="6869998" y="1301158"/>
            <a:ext cx="1127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80 €/</a:t>
            </a:r>
            <a:r>
              <a:rPr lang="en-US" sz="3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endParaRPr lang="en-US" sz="3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5114B4-6DEA-E6D9-3CEC-53A33392AD11}"/>
              </a:ext>
            </a:extLst>
          </p:cNvPr>
          <p:cNvSpPr txBox="1"/>
          <p:nvPr/>
        </p:nvSpPr>
        <p:spPr>
          <a:xfrm>
            <a:off x="6824307" y="2156197"/>
            <a:ext cx="1989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Buying Officer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AF2839-AF53-7C35-733D-BAA431B7F298}"/>
              </a:ext>
            </a:extLst>
          </p:cNvPr>
          <p:cNvSpPr txBox="1"/>
          <p:nvPr/>
        </p:nvSpPr>
        <p:spPr>
          <a:xfrm>
            <a:off x="6840365" y="2693634"/>
            <a:ext cx="1989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Marketing</a:t>
            </a:r>
          </a:p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Specialist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15DC28-E385-7594-E974-EF30616E0ADF}"/>
              </a:ext>
            </a:extLst>
          </p:cNvPr>
          <p:cNvSpPr txBox="1"/>
          <p:nvPr/>
        </p:nvSpPr>
        <p:spPr>
          <a:xfrm>
            <a:off x="1991017" y="4180322"/>
            <a:ext cx="1282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B30D58-0D7B-4081-A49B-9D76850E316E}"/>
              </a:ext>
            </a:extLst>
          </p:cNvPr>
          <p:cNvSpPr/>
          <p:nvPr/>
        </p:nvSpPr>
        <p:spPr bwMode="auto">
          <a:xfrm>
            <a:off x="1205828" y="4782525"/>
            <a:ext cx="3440109" cy="17270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B71894-ACDF-0626-03CC-85F7C54FFA0D}"/>
              </a:ext>
            </a:extLst>
          </p:cNvPr>
          <p:cNvSpPr/>
          <p:nvPr/>
        </p:nvSpPr>
        <p:spPr bwMode="auto">
          <a:xfrm>
            <a:off x="4815764" y="4789570"/>
            <a:ext cx="3942166" cy="172707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C9119D-D83C-3895-3C5C-76E96F36BD7A}"/>
              </a:ext>
            </a:extLst>
          </p:cNvPr>
          <p:cNvSpPr txBox="1"/>
          <p:nvPr/>
        </p:nvSpPr>
        <p:spPr>
          <a:xfrm>
            <a:off x="1222769" y="4188969"/>
            <a:ext cx="1237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AFF38E-E556-8C8B-61BA-4426DCE93B68}"/>
              </a:ext>
            </a:extLst>
          </p:cNvPr>
          <p:cNvSpPr txBox="1"/>
          <p:nvPr/>
        </p:nvSpPr>
        <p:spPr>
          <a:xfrm>
            <a:off x="4884893" y="4193099"/>
            <a:ext cx="1274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A7574-3A4B-8A76-1D01-D929969CCCAC}"/>
              </a:ext>
            </a:extLst>
          </p:cNvPr>
          <p:cNvSpPr txBox="1"/>
          <p:nvPr/>
        </p:nvSpPr>
        <p:spPr>
          <a:xfrm>
            <a:off x="1332896" y="4855092"/>
            <a:ext cx="2983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Constructor Fee (5): </a:t>
            </a:r>
          </a:p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100€/</a:t>
            </a:r>
            <a:r>
              <a:rPr lang="en-US" sz="200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endParaRPr lang="en-US" sz="20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360E4-D488-CB16-C579-55083F89E1C7}"/>
              </a:ext>
            </a:extLst>
          </p:cNvPr>
          <p:cNvSpPr txBox="1"/>
          <p:nvPr/>
        </p:nvSpPr>
        <p:spPr>
          <a:xfrm>
            <a:off x="1348749" y="5653107"/>
            <a:ext cx="3170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Cybersec</a:t>
            </a: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Consult. Fee: 120€/</a:t>
            </a:r>
            <a:r>
              <a:rPr lang="en-US" sz="200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</a:t>
            </a:r>
            <a:endParaRPr lang="en-US" sz="20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en-US" sz="20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0E7483-A19B-732E-39A2-E089F942E5A2}"/>
              </a:ext>
            </a:extLst>
          </p:cNvPr>
          <p:cNvSpPr txBox="1"/>
          <p:nvPr/>
        </p:nvSpPr>
        <p:spPr>
          <a:xfrm>
            <a:off x="4884893" y="4845185"/>
            <a:ext cx="4060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Regulatory &amp; License Fees:</a:t>
            </a:r>
          </a:p>
          <a:p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3 500€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90F6A2-EFBC-E1F3-295F-B1EABE8E3992}"/>
              </a:ext>
            </a:extLst>
          </p:cNvPr>
          <p:cNvSpPr txBox="1"/>
          <p:nvPr/>
        </p:nvSpPr>
        <p:spPr>
          <a:xfrm>
            <a:off x="4942757" y="5493026"/>
            <a:ext cx="3826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Outdoor Antenna: 30 000€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4B259E-BA72-6A41-17C5-7C1CDF38BC9C}"/>
              </a:ext>
            </a:extLst>
          </p:cNvPr>
          <p:cNvSpPr txBox="1"/>
          <p:nvPr/>
        </p:nvSpPr>
        <p:spPr>
          <a:xfrm>
            <a:off x="4964903" y="5961607"/>
            <a:ext cx="3826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Satellite Sign-Up Fee: 5 000€</a:t>
            </a:r>
          </a:p>
        </p:txBody>
      </p:sp>
    </p:spTree>
    <p:extLst>
      <p:ext uri="{BB962C8B-B14F-4D97-AF65-F5344CB8AC3E}">
        <p14:creationId xmlns:p14="http://schemas.microsoft.com/office/powerpoint/2010/main" val="322086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0B2FD-BFF2-E046-376B-C5A8514DB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67717" y="3222393"/>
            <a:ext cx="3486232" cy="750941"/>
          </a:xfrm>
        </p:spPr>
        <p:txBody>
          <a:bodyPr lIns="91440" tIns="45720" rIns="91440" bIns="45720" anchor="ctr"/>
          <a:lstStyle/>
          <a:p>
            <a:r>
              <a:rPr lang="pt-PT">
                <a:latin typeface="Calibri"/>
                <a:ea typeface="Calibri"/>
                <a:cs typeface="Calibri"/>
              </a:rPr>
              <a:t>Schedule</a:t>
            </a:r>
          </a:p>
        </p:txBody>
      </p:sp>
      <p:pic>
        <p:nvPicPr>
          <p:cNvPr id="3" name="Imagem 2" descr="Uma imagem com texto, captura de ecrã, diagrama, file&#10;&#10;Os conteúdos gerados por IA poderão estar incorretos.">
            <a:extLst>
              <a:ext uri="{FF2B5EF4-FFF2-40B4-BE49-F238E27FC236}">
                <a16:creationId xmlns:a16="http://schemas.microsoft.com/office/drawing/2014/main" id="{F5D47E9D-504C-6A34-6B22-25A48869B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91" y="0"/>
            <a:ext cx="7016862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91ED42E-7B45-7BDD-F834-1B0DA09327BB}"/>
              </a:ext>
            </a:extLst>
          </p:cNvPr>
          <p:cNvSpPr txBox="1"/>
          <p:nvPr/>
        </p:nvSpPr>
        <p:spPr>
          <a:xfrm>
            <a:off x="8283809" y="175235"/>
            <a:ext cx="993647" cy="2975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000">
                <a:latin typeface="Calibri"/>
                <a:ea typeface="Calibri"/>
                <a:cs typeface="Calibri"/>
              </a:rPr>
              <a:t>58,5 days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499855E5-C6C1-12C4-562D-874137CCEE72}"/>
              </a:ext>
            </a:extLst>
          </p:cNvPr>
          <p:cNvCxnSpPr/>
          <p:nvPr/>
        </p:nvCxnSpPr>
        <p:spPr bwMode="auto">
          <a:xfrm flipH="1">
            <a:off x="3122257" y="3310867"/>
            <a:ext cx="871745" cy="10277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721F0-843A-6AED-910F-22F3150694E6}"/>
              </a:ext>
            </a:extLst>
          </p:cNvPr>
          <p:cNvSpPr txBox="1"/>
          <p:nvPr/>
        </p:nvSpPr>
        <p:spPr>
          <a:xfrm>
            <a:off x="2145324" y="4207392"/>
            <a:ext cx="1757736" cy="3795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800" err="1">
                <a:latin typeface="Calibri"/>
                <a:ea typeface="Calibri"/>
                <a:cs typeface="Calibri"/>
              </a:rPr>
              <a:t>High</a:t>
            </a:r>
            <a:r>
              <a:rPr lang="pt-PT" sz="2800"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latin typeface="Calibri"/>
                <a:ea typeface="Calibri"/>
                <a:cs typeface="Calibri"/>
              </a:rPr>
              <a:t>risk</a:t>
            </a:r>
            <a:r>
              <a:rPr lang="pt-PT" sz="2800"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latin typeface="Calibri"/>
                <a:ea typeface="Calibri"/>
                <a:cs typeface="Calibri"/>
              </a:rPr>
              <a:t>region</a:t>
            </a:r>
            <a:endParaRPr lang="pt-PT" sz="2800">
              <a:latin typeface="Calibri"/>
              <a:ea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8B806F-E70D-B33C-AAAE-68FAFBA5E27A}"/>
              </a:ext>
            </a:extLst>
          </p:cNvPr>
          <p:cNvSpPr txBox="1"/>
          <p:nvPr/>
        </p:nvSpPr>
        <p:spPr>
          <a:xfrm>
            <a:off x="6708305" y="2554540"/>
            <a:ext cx="1664553" cy="66684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800" err="1">
                <a:latin typeface="Calibri"/>
                <a:ea typeface="Calibri"/>
                <a:cs typeface="Calibri"/>
              </a:rPr>
              <a:t>High</a:t>
            </a:r>
            <a:r>
              <a:rPr lang="pt-PT" sz="2800"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latin typeface="Calibri"/>
                <a:ea typeface="Calibri"/>
                <a:cs typeface="Calibri"/>
              </a:rPr>
              <a:t>risk</a:t>
            </a:r>
            <a:r>
              <a:rPr lang="pt-PT" sz="2800">
                <a:latin typeface="Calibri"/>
                <a:ea typeface="Calibri"/>
                <a:cs typeface="Calibri"/>
              </a:rPr>
              <a:t> </a:t>
            </a:r>
            <a:r>
              <a:rPr lang="pt-PT" sz="2800" err="1">
                <a:latin typeface="Calibri"/>
                <a:ea typeface="Calibri"/>
                <a:cs typeface="Calibri"/>
              </a:rPr>
              <a:t>task</a:t>
            </a:r>
            <a:endParaRPr lang="pt-PT" sz="2800">
              <a:latin typeface="Calibri"/>
              <a:ea typeface="Calibri"/>
              <a:cs typeface="Calibri"/>
            </a:endParaRPr>
          </a:p>
          <a:p>
            <a:r>
              <a:rPr lang="pt-PT" sz="2800">
                <a:latin typeface="Calibri"/>
                <a:ea typeface="Calibri"/>
                <a:cs typeface="Calibri"/>
              </a:rPr>
              <a:t>96 908 €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4004EF7F-E5E2-B322-E0C9-ADF50DB7517E}"/>
              </a:ext>
            </a:extLst>
          </p:cNvPr>
          <p:cNvCxnSpPr>
            <a:cxnSpLocks/>
          </p:cNvCxnSpPr>
          <p:nvPr/>
        </p:nvCxnSpPr>
        <p:spPr bwMode="auto">
          <a:xfrm flipV="1">
            <a:off x="5893448" y="2865664"/>
            <a:ext cx="774441" cy="1724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936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5A2E2-61FA-0A8E-9274-513F80D5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en-PT"/>
              <a:t>Quality Control Plan</a:t>
            </a:r>
            <a:endParaRPr lang="pt-PT">
              <a:latin typeface="Calibri"/>
              <a:ea typeface="Calibri"/>
              <a:cs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49F4C6-EEE9-72D8-76AD-52BCE76ADFE8}"/>
              </a:ext>
            </a:extLst>
          </p:cNvPr>
          <p:cNvSpPr/>
          <p:nvPr/>
        </p:nvSpPr>
        <p:spPr>
          <a:xfrm>
            <a:off x="971600" y="2118611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70B04C-A37C-934D-B96B-1A4A0434FCFE}"/>
              </a:ext>
            </a:extLst>
          </p:cNvPr>
          <p:cNvSpPr/>
          <p:nvPr/>
        </p:nvSpPr>
        <p:spPr>
          <a:xfrm>
            <a:off x="1136192" y="2283203"/>
            <a:ext cx="2139696" cy="438912"/>
          </a:xfrm>
          <a:prstGeom prst="roundRect">
            <a:avLst/>
          </a:prstGeom>
          <a:solidFill>
            <a:srgbClr val="EBF7FC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FCB7D-4847-2C5B-B24E-E3631590D3B4}"/>
              </a:ext>
            </a:extLst>
          </p:cNvPr>
          <p:cNvSpPr txBox="1"/>
          <p:nvPr/>
        </p:nvSpPr>
        <p:spPr>
          <a:xfrm>
            <a:off x="1330971" y="2262683"/>
            <a:ext cx="17431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9DB"/>
                </a:solidFill>
              </a:defRPr>
            </a:pPr>
            <a:r>
              <a:rPr lang="pt-PT" sz="2400" baseline="0">
                <a:latin typeface="Calibri" panose="020F0502020204030204" pitchFamily="34" charset="0"/>
                <a:cs typeface="Calibri" panose="020F0502020204030204" pitchFamily="34" charset="0"/>
              </a:rPr>
              <a:t>Checkpoints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B2B92-F0AF-FB04-FBC7-335445681AD6}"/>
              </a:ext>
            </a:extLst>
          </p:cNvPr>
          <p:cNvSpPr txBox="1"/>
          <p:nvPr/>
        </p:nvSpPr>
        <p:spPr>
          <a:xfrm>
            <a:off x="971600" y="2740426"/>
            <a:ext cx="2468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Design review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Procurement review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Testing review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Final acceptance</a:t>
            </a:r>
            <a:endParaRPr lang="pt-PT" sz="2800" baseline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A1C723-1ACE-5502-70AD-17B7ABCA4C19}"/>
              </a:ext>
            </a:extLst>
          </p:cNvPr>
          <p:cNvSpPr/>
          <p:nvPr/>
        </p:nvSpPr>
        <p:spPr>
          <a:xfrm>
            <a:off x="3726658" y="2118611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97A9C5-CFD6-0B2D-3CB2-7F2059AEB5C0}"/>
              </a:ext>
            </a:extLst>
          </p:cNvPr>
          <p:cNvSpPr/>
          <p:nvPr/>
        </p:nvSpPr>
        <p:spPr>
          <a:xfrm>
            <a:off x="3891250" y="2283203"/>
            <a:ext cx="2139696" cy="438912"/>
          </a:xfrm>
          <a:prstGeom prst="roundRect">
            <a:avLst/>
          </a:prstGeom>
          <a:solidFill>
            <a:srgbClr val="EBF7FC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B7DD7-8AD9-C8B5-9D0C-A517C830F614}"/>
              </a:ext>
            </a:extLst>
          </p:cNvPr>
          <p:cNvSpPr txBox="1"/>
          <p:nvPr/>
        </p:nvSpPr>
        <p:spPr>
          <a:xfrm>
            <a:off x="4049117" y="2262683"/>
            <a:ext cx="18239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9DB"/>
                </a:solidFill>
              </a:defRPr>
            </a:pPr>
            <a:r>
              <a:rPr lang="pt-PT" sz="2400" baseline="0">
                <a:latin typeface="Calibri" panose="020F0502020204030204" pitchFamily="34" charset="0"/>
                <a:cs typeface="Calibri" panose="020F0502020204030204" pitchFamily="34" charset="0"/>
              </a:rPr>
              <a:t>Main criteria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8BC79-B6DD-EFCC-0997-D2BE272DBAC9}"/>
              </a:ext>
            </a:extLst>
          </p:cNvPr>
          <p:cNvSpPr txBox="1"/>
          <p:nvPr/>
        </p:nvSpPr>
        <p:spPr>
          <a:xfrm>
            <a:off x="3726658" y="2740427"/>
            <a:ext cx="2468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95% coverage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325 users + 20% headroom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Latency &lt; 700 </a:t>
            </a:r>
            <a:r>
              <a:rPr lang="pt-PT" sz="2000" baseline="0" err="1"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pt-PT"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Shutdown &lt; 30 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A2D649-10D6-D17B-F1CA-57AE0BAEAF19}"/>
              </a:ext>
            </a:extLst>
          </p:cNvPr>
          <p:cNvSpPr/>
          <p:nvPr/>
        </p:nvSpPr>
        <p:spPr>
          <a:xfrm>
            <a:off x="6481716" y="2118611"/>
            <a:ext cx="2468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651C014-C489-9256-82D9-5D08111811B1}"/>
              </a:ext>
            </a:extLst>
          </p:cNvPr>
          <p:cNvSpPr/>
          <p:nvPr/>
        </p:nvSpPr>
        <p:spPr>
          <a:xfrm>
            <a:off x="6646308" y="2283203"/>
            <a:ext cx="2139696" cy="438912"/>
          </a:xfrm>
          <a:prstGeom prst="roundRect">
            <a:avLst/>
          </a:prstGeom>
          <a:solidFill>
            <a:srgbClr val="EBF7FC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EF655-E404-18DE-5194-57A4A0D9D669}"/>
              </a:ext>
            </a:extLst>
          </p:cNvPr>
          <p:cNvSpPr txBox="1"/>
          <p:nvPr/>
        </p:nvSpPr>
        <p:spPr>
          <a:xfrm>
            <a:off x="6822450" y="2264891"/>
            <a:ext cx="17874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9DB"/>
                </a:solidFill>
              </a:defRPr>
            </a:pPr>
            <a:r>
              <a:rPr lang="pt-PT" sz="2400" b="1" baseline="0">
                <a:solidFill>
                  <a:srgbClr val="0099D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logic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8498E-F4D8-3755-40D8-3B9B6A37339A}"/>
              </a:ext>
            </a:extLst>
          </p:cNvPr>
          <p:cNvSpPr txBox="1"/>
          <p:nvPr/>
        </p:nvSpPr>
        <p:spPr>
          <a:xfrm>
            <a:off x="6481716" y="2689748"/>
            <a:ext cx="24688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solidFill>
                  <a:srgbClr val="48525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Verification method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solidFill>
                  <a:srgbClr val="48525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Responsible owner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solidFill>
                  <a:srgbClr val="48525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Corrective action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48525C"/>
                </a:solidFill>
              </a:defRPr>
            </a:pPr>
            <a:r>
              <a:rPr lang="pt-PT" sz="2000" baseline="0">
                <a:solidFill>
                  <a:srgbClr val="48525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Bi-weekly EVM review</a:t>
            </a:r>
          </a:p>
        </p:txBody>
      </p:sp>
    </p:spTree>
    <p:extLst>
      <p:ext uri="{BB962C8B-B14F-4D97-AF65-F5344CB8AC3E}">
        <p14:creationId xmlns:p14="http://schemas.microsoft.com/office/powerpoint/2010/main" val="1418849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21E37-8DB9-396C-7210-382AEC97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lang="pt-PT" err="1">
                <a:latin typeface="Calibri"/>
                <a:ea typeface="Calibri"/>
                <a:cs typeface="Calibri"/>
              </a:rPr>
              <a:t>Risk</a:t>
            </a:r>
            <a:r>
              <a:rPr lang="pt-PT">
                <a:latin typeface="Calibri"/>
                <a:ea typeface="Calibri"/>
                <a:cs typeface="Calibri"/>
              </a:rPr>
              <a:t> Management</a:t>
            </a:r>
            <a:endParaRPr lang="pt-PT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 47">
            <a:extLst>
              <a:ext uri="{FF2B5EF4-FFF2-40B4-BE49-F238E27FC236}">
                <a16:creationId xmlns:a16="http://schemas.microsoft.com/office/drawing/2014/main" id="{6E843C6B-28DF-5CC0-9C9D-A15110CBAD0D}"/>
              </a:ext>
            </a:extLst>
          </p:cNvPr>
          <p:cNvSpPr/>
          <p:nvPr/>
        </p:nvSpPr>
        <p:spPr>
          <a:xfrm>
            <a:off x="686017" y="504652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2000" baseline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628A5250-590D-3C6C-3008-0A45B833FAEE}"/>
              </a:ext>
            </a:extLst>
          </p:cNvPr>
          <p:cNvSpPr/>
          <p:nvPr/>
        </p:nvSpPr>
        <p:spPr>
          <a:xfrm>
            <a:off x="189378" y="138581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baseline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</a:t>
            </a:r>
            <a:endParaRPr lang="en-US" sz="2400" baseline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9B9493-CD60-D07E-14E7-1A8BD969DE8F}"/>
              </a:ext>
            </a:extLst>
          </p:cNvPr>
          <p:cNvSpPr txBox="1"/>
          <p:nvPr/>
        </p:nvSpPr>
        <p:spPr>
          <a:xfrm rot="16200000">
            <a:off x="-1103208" y="3391737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2100" b="1" kern="0" spc="100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100" b="1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bability</a:t>
            </a:r>
            <a:r>
              <a:rPr lang="en-US" sz="2000" b="1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kern="0" spc="100" baseline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2000" b="1" baseline="0">
                <a:solidFill>
                  <a:srgbClr val="0C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pt-PT" sz="2000" baseline="0"/>
          </a:p>
        </p:txBody>
      </p:sp>
      <p:sp>
        <p:nvSpPr>
          <p:cNvPr id="77" name="Shape 3">
            <a:extLst>
              <a:ext uri="{FF2B5EF4-FFF2-40B4-BE49-F238E27FC236}">
                <a16:creationId xmlns:a16="http://schemas.microsoft.com/office/drawing/2014/main" id="{7667F6D4-0299-3CF5-121A-3F80D22FC6EF}"/>
              </a:ext>
            </a:extLst>
          </p:cNvPr>
          <p:cNvSpPr/>
          <p:nvPr/>
        </p:nvSpPr>
        <p:spPr>
          <a:xfrm>
            <a:off x="1436378" y="1796957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8" name="Shape 4">
            <a:extLst>
              <a:ext uri="{FF2B5EF4-FFF2-40B4-BE49-F238E27FC236}">
                <a16:creationId xmlns:a16="http://schemas.microsoft.com/office/drawing/2014/main" id="{11078C93-1079-69F6-5B4C-4CE48F30A29B}"/>
              </a:ext>
            </a:extLst>
          </p:cNvPr>
          <p:cNvSpPr/>
          <p:nvPr/>
        </p:nvSpPr>
        <p:spPr>
          <a:xfrm>
            <a:off x="2071434" y="1796957"/>
            <a:ext cx="635056" cy="640904"/>
          </a:xfrm>
          <a:prstGeom prst="rect">
            <a:avLst/>
          </a:prstGeom>
          <a:solidFill>
            <a:srgbClr val="F2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38F3783E-33A9-9803-40D4-D0D4404A8095}"/>
              </a:ext>
            </a:extLst>
          </p:cNvPr>
          <p:cNvSpPr/>
          <p:nvPr/>
        </p:nvSpPr>
        <p:spPr>
          <a:xfrm>
            <a:off x="2706490" y="1796957"/>
            <a:ext cx="635056" cy="640904"/>
          </a:xfrm>
          <a:prstGeom prst="rect">
            <a:avLst/>
          </a:prstGeom>
          <a:solidFill>
            <a:srgbClr val="EFB7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57295E44-E5E8-7194-608C-C5234D9617DE}"/>
              </a:ext>
            </a:extLst>
          </p:cNvPr>
          <p:cNvSpPr/>
          <p:nvPr/>
        </p:nvSpPr>
        <p:spPr>
          <a:xfrm>
            <a:off x="3341546" y="1796957"/>
            <a:ext cx="635056" cy="640904"/>
          </a:xfrm>
          <a:prstGeom prst="rect">
            <a:avLst/>
          </a:prstGeom>
          <a:solidFill>
            <a:srgbClr val="E79A7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1" name="Shape 7">
            <a:extLst>
              <a:ext uri="{FF2B5EF4-FFF2-40B4-BE49-F238E27FC236}">
                <a16:creationId xmlns:a16="http://schemas.microsoft.com/office/drawing/2014/main" id="{C474C2A4-3564-0D67-6B75-DD06CDB78CBF}"/>
              </a:ext>
            </a:extLst>
          </p:cNvPr>
          <p:cNvSpPr/>
          <p:nvPr/>
        </p:nvSpPr>
        <p:spPr>
          <a:xfrm>
            <a:off x="3976602" y="1796957"/>
            <a:ext cx="635056" cy="640904"/>
          </a:xfrm>
          <a:prstGeom prst="rect">
            <a:avLst/>
          </a:prstGeom>
          <a:solidFill>
            <a:srgbClr val="DC6F6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89BDFFC4-44F6-EE5F-D0DC-FBFF31E57ED4}"/>
              </a:ext>
            </a:extLst>
          </p:cNvPr>
          <p:cNvSpPr/>
          <p:nvPr/>
        </p:nvSpPr>
        <p:spPr>
          <a:xfrm>
            <a:off x="1436378" y="2437861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3" name="Shape 4">
            <a:extLst>
              <a:ext uri="{FF2B5EF4-FFF2-40B4-BE49-F238E27FC236}">
                <a16:creationId xmlns:a16="http://schemas.microsoft.com/office/drawing/2014/main" id="{A5CBEAE4-C401-94B5-FF10-571383F28D75}"/>
              </a:ext>
            </a:extLst>
          </p:cNvPr>
          <p:cNvSpPr/>
          <p:nvPr/>
        </p:nvSpPr>
        <p:spPr>
          <a:xfrm>
            <a:off x="2071434" y="2437861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4" name="Shape 5">
            <a:extLst>
              <a:ext uri="{FF2B5EF4-FFF2-40B4-BE49-F238E27FC236}">
                <a16:creationId xmlns:a16="http://schemas.microsoft.com/office/drawing/2014/main" id="{F8BDC2E2-F639-01CA-DB5C-E0550F5E6EDE}"/>
              </a:ext>
            </a:extLst>
          </p:cNvPr>
          <p:cNvSpPr/>
          <p:nvPr/>
        </p:nvSpPr>
        <p:spPr>
          <a:xfrm>
            <a:off x="2706490" y="2437861"/>
            <a:ext cx="635056" cy="640904"/>
          </a:xfrm>
          <a:prstGeom prst="rect">
            <a:avLst/>
          </a:prstGeom>
          <a:solidFill>
            <a:srgbClr val="F3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C2AC3AC0-A697-C3CD-91E0-5532F0836484}"/>
              </a:ext>
            </a:extLst>
          </p:cNvPr>
          <p:cNvSpPr/>
          <p:nvPr/>
        </p:nvSpPr>
        <p:spPr>
          <a:xfrm>
            <a:off x="3341546" y="2437861"/>
            <a:ext cx="635056" cy="640904"/>
          </a:xfrm>
          <a:prstGeom prst="rect">
            <a:avLst/>
          </a:prstGeom>
          <a:solidFill>
            <a:srgbClr val="EFB7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61475D39-C688-E52A-4C79-27DABBF53BE3}"/>
              </a:ext>
            </a:extLst>
          </p:cNvPr>
          <p:cNvSpPr/>
          <p:nvPr/>
        </p:nvSpPr>
        <p:spPr>
          <a:xfrm>
            <a:off x="3976602" y="2437861"/>
            <a:ext cx="635056" cy="640904"/>
          </a:xfrm>
          <a:prstGeom prst="rect">
            <a:avLst/>
          </a:prstGeom>
          <a:solidFill>
            <a:srgbClr val="E89A7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7" name="Shape 3">
            <a:extLst>
              <a:ext uri="{FF2B5EF4-FFF2-40B4-BE49-F238E27FC236}">
                <a16:creationId xmlns:a16="http://schemas.microsoft.com/office/drawing/2014/main" id="{04DEC3D3-E1CF-EC8A-FC45-72BF8307A97B}"/>
              </a:ext>
            </a:extLst>
          </p:cNvPr>
          <p:cNvSpPr/>
          <p:nvPr/>
        </p:nvSpPr>
        <p:spPr>
          <a:xfrm>
            <a:off x="1436378" y="3078765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839CAA38-F2F6-BBFB-3839-8E67DDF7C07E}"/>
              </a:ext>
            </a:extLst>
          </p:cNvPr>
          <p:cNvSpPr/>
          <p:nvPr/>
        </p:nvSpPr>
        <p:spPr>
          <a:xfrm>
            <a:off x="2071434" y="3078765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9" name="Shape 5">
            <a:extLst>
              <a:ext uri="{FF2B5EF4-FFF2-40B4-BE49-F238E27FC236}">
                <a16:creationId xmlns:a16="http://schemas.microsoft.com/office/drawing/2014/main" id="{4A991B8F-C866-58E9-1175-0511C2A48328}"/>
              </a:ext>
            </a:extLst>
          </p:cNvPr>
          <p:cNvSpPr/>
          <p:nvPr/>
        </p:nvSpPr>
        <p:spPr>
          <a:xfrm>
            <a:off x="2706490" y="3078765"/>
            <a:ext cx="635056" cy="640904"/>
          </a:xfrm>
          <a:prstGeom prst="rect">
            <a:avLst/>
          </a:prstGeom>
          <a:solidFill>
            <a:srgbClr val="F3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0" name="Shape 6">
            <a:extLst>
              <a:ext uri="{FF2B5EF4-FFF2-40B4-BE49-F238E27FC236}">
                <a16:creationId xmlns:a16="http://schemas.microsoft.com/office/drawing/2014/main" id="{D1B7310B-DAA5-E19C-565C-D58388CF479F}"/>
              </a:ext>
            </a:extLst>
          </p:cNvPr>
          <p:cNvSpPr/>
          <p:nvPr/>
        </p:nvSpPr>
        <p:spPr>
          <a:xfrm>
            <a:off x="3341546" y="3078765"/>
            <a:ext cx="635056" cy="640904"/>
          </a:xfrm>
          <a:prstGeom prst="rect">
            <a:avLst/>
          </a:prstGeom>
          <a:solidFill>
            <a:srgbClr val="F3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1" name="Shape 7">
            <a:extLst>
              <a:ext uri="{FF2B5EF4-FFF2-40B4-BE49-F238E27FC236}">
                <a16:creationId xmlns:a16="http://schemas.microsoft.com/office/drawing/2014/main" id="{2A6CA0EE-FE5D-6689-FE41-CD5153346364}"/>
              </a:ext>
            </a:extLst>
          </p:cNvPr>
          <p:cNvSpPr/>
          <p:nvPr/>
        </p:nvSpPr>
        <p:spPr>
          <a:xfrm>
            <a:off x="3976602" y="3078765"/>
            <a:ext cx="635056" cy="640904"/>
          </a:xfrm>
          <a:prstGeom prst="rect">
            <a:avLst/>
          </a:prstGeom>
          <a:solidFill>
            <a:srgbClr val="E89A7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2" name="Shape 3">
            <a:extLst>
              <a:ext uri="{FF2B5EF4-FFF2-40B4-BE49-F238E27FC236}">
                <a16:creationId xmlns:a16="http://schemas.microsoft.com/office/drawing/2014/main" id="{B574BFFC-8206-4C0F-035C-676E7B167B09}"/>
              </a:ext>
            </a:extLst>
          </p:cNvPr>
          <p:cNvSpPr/>
          <p:nvPr/>
        </p:nvSpPr>
        <p:spPr>
          <a:xfrm>
            <a:off x="1436378" y="3719669"/>
            <a:ext cx="635056" cy="640904"/>
          </a:xfrm>
          <a:prstGeom prst="rect">
            <a:avLst/>
          </a:prstGeom>
          <a:solidFill>
            <a:srgbClr val="A3DFA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3" name="Shape 4">
            <a:extLst>
              <a:ext uri="{FF2B5EF4-FFF2-40B4-BE49-F238E27FC236}">
                <a16:creationId xmlns:a16="http://schemas.microsoft.com/office/drawing/2014/main" id="{7FC6029F-BCF0-5123-37A2-4F31AF13DB65}"/>
              </a:ext>
            </a:extLst>
          </p:cNvPr>
          <p:cNvSpPr/>
          <p:nvPr/>
        </p:nvSpPr>
        <p:spPr>
          <a:xfrm>
            <a:off x="2071434" y="3719669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4" name="Shape 5">
            <a:extLst>
              <a:ext uri="{FF2B5EF4-FFF2-40B4-BE49-F238E27FC236}">
                <a16:creationId xmlns:a16="http://schemas.microsoft.com/office/drawing/2014/main" id="{5FC17936-9BA0-EBA5-27D9-6FC4F7230AEF}"/>
              </a:ext>
            </a:extLst>
          </p:cNvPr>
          <p:cNvSpPr/>
          <p:nvPr/>
        </p:nvSpPr>
        <p:spPr>
          <a:xfrm>
            <a:off x="2706490" y="3719669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5DD7A771-52F4-A290-5E69-D549E9E66BA4}"/>
              </a:ext>
            </a:extLst>
          </p:cNvPr>
          <p:cNvSpPr/>
          <p:nvPr/>
        </p:nvSpPr>
        <p:spPr>
          <a:xfrm>
            <a:off x="3341546" y="3719669"/>
            <a:ext cx="635056" cy="640904"/>
          </a:xfrm>
          <a:prstGeom prst="rect">
            <a:avLst/>
          </a:prstGeom>
          <a:solidFill>
            <a:srgbClr val="F3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6" name="Shape 7">
            <a:extLst>
              <a:ext uri="{FF2B5EF4-FFF2-40B4-BE49-F238E27FC236}">
                <a16:creationId xmlns:a16="http://schemas.microsoft.com/office/drawing/2014/main" id="{14AC25D5-85BB-C577-EE18-F3F45CF95A62}"/>
              </a:ext>
            </a:extLst>
          </p:cNvPr>
          <p:cNvSpPr/>
          <p:nvPr/>
        </p:nvSpPr>
        <p:spPr>
          <a:xfrm>
            <a:off x="3976602" y="3719669"/>
            <a:ext cx="635056" cy="640904"/>
          </a:xfrm>
          <a:prstGeom prst="rect">
            <a:avLst/>
          </a:prstGeom>
          <a:solidFill>
            <a:srgbClr val="EFB7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7" name="Shape 3">
            <a:extLst>
              <a:ext uri="{FF2B5EF4-FFF2-40B4-BE49-F238E27FC236}">
                <a16:creationId xmlns:a16="http://schemas.microsoft.com/office/drawing/2014/main" id="{0B0D7976-CD9F-54CD-4DE0-388DD348B11C}"/>
              </a:ext>
            </a:extLst>
          </p:cNvPr>
          <p:cNvSpPr/>
          <p:nvPr/>
        </p:nvSpPr>
        <p:spPr>
          <a:xfrm>
            <a:off x="1436378" y="4360573"/>
            <a:ext cx="635056" cy="640904"/>
          </a:xfrm>
          <a:prstGeom prst="rect">
            <a:avLst/>
          </a:prstGeom>
          <a:solidFill>
            <a:srgbClr val="A3DFA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8" name="Shape 4">
            <a:extLst>
              <a:ext uri="{FF2B5EF4-FFF2-40B4-BE49-F238E27FC236}">
                <a16:creationId xmlns:a16="http://schemas.microsoft.com/office/drawing/2014/main" id="{E8A3F5CC-3F6D-EE59-AC2C-4372F920396D}"/>
              </a:ext>
            </a:extLst>
          </p:cNvPr>
          <p:cNvSpPr/>
          <p:nvPr/>
        </p:nvSpPr>
        <p:spPr>
          <a:xfrm>
            <a:off x="2071434" y="4360573"/>
            <a:ext cx="635056" cy="640904"/>
          </a:xfrm>
          <a:prstGeom prst="rect">
            <a:avLst/>
          </a:prstGeom>
          <a:solidFill>
            <a:srgbClr val="A3DFA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9" name="Shape 5">
            <a:extLst>
              <a:ext uri="{FF2B5EF4-FFF2-40B4-BE49-F238E27FC236}">
                <a16:creationId xmlns:a16="http://schemas.microsoft.com/office/drawing/2014/main" id="{0CA2535B-A548-186D-6829-473A519C7E13}"/>
              </a:ext>
            </a:extLst>
          </p:cNvPr>
          <p:cNvSpPr/>
          <p:nvPr/>
        </p:nvSpPr>
        <p:spPr>
          <a:xfrm>
            <a:off x="2706490" y="4360573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179D9D73-35D4-DAFF-16B0-494D30C2CCEF}"/>
              </a:ext>
            </a:extLst>
          </p:cNvPr>
          <p:cNvSpPr/>
          <p:nvPr/>
        </p:nvSpPr>
        <p:spPr>
          <a:xfrm>
            <a:off x="3341546" y="4360573"/>
            <a:ext cx="635056" cy="640904"/>
          </a:xfrm>
          <a:prstGeom prst="rect">
            <a:avLst/>
          </a:prstGeom>
          <a:solidFill>
            <a:srgbClr val="C9DE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1" name="Shape 7">
            <a:extLst>
              <a:ext uri="{FF2B5EF4-FFF2-40B4-BE49-F238E27FC236}">
                <a16:creationId xmlns:a16="http://schemas.microsoft.com/office/drawing/2014/main" id="{F9835456-7C29-BB08-36DE-2720814ED11D}"/>
              </a:ext>
            </a:extLst>
          </p:cNvPr>
          <p:cNvSpPr/>
          <p:nvPr/>
        </p:nvSpPr>
        <p:spPr>
          <a:xfrm>
            <a:off x="3976602" y="4360573"/>
            <a:ext cx="635056" cy="640904"/>
          </a:xfrm>
          <a:prstGeom prst="rect">
            <a:avLst/>
          </a:prstGeom>
          <a:solidFill>
            <a:srgbClr val="F3D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2" name="Shape 48">
            <a:extLst>
              <a:ext uri="{FF2B5EF4-FFF2-40B4-BE49-F238E27FC236}">
                <a16:creationId xmlns:a16="http://schemas.microsoft.com/office/drawing/2014/main" id="{3328242A-B25E-100A-9EC6-FC5C4DF29F4E}"/>
              </a:ext>
            </a:extLst>
          </p:cNvPr>
          <p:cNvSpPr/>
          <p:nvPr/>
        </p:nvSpPr>
        <p:spPr>
          <a:xfrm>
            <a:off x="1436378" y="5678727"/>
            <a:ext cx="182880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3" name="Text 49">
            <a:extLst>
              <a:ext uri="{FF2B5EF4-FFF2-40B4-BE49-F238E27FC236}">
                <a16:creationId xmlns:a16="http://schemas.microsoft.com/office/drawing/2014/main" id="{87508721-79CE-C7F5-A3B3-EEBA1885A158}"/>
              </a:ext>
            </a:extLst>
          </p:cNvPr>
          <p:cNvSpPr/>
          <p:nvPr/>
        </p:nvSpPr>
        <p:spPr>
          <a:xfrm>
            <a:off x="1674122" y="5613708"/>
            <a:ext cx="1261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aseline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×5</a:t>
            </a:r>
            <a:endParaRPr lang="en-US" sz="2000" baseline="0"/>
          </a:p>
        </p:txBody>
      </p:sp>
      <p:sp>
        <p:nvSpPr>
          <p:cNvPr id="104" name="Shape 50">
            <a:extLst>
              <a:ext uri="{FF2B5EF4-FFF2-40B4-BE49-F238E27FC236}">
                <a16:creationId xmlns:a16="http://schemas.microsoft.com/office/drawing/2014/main" id="{4E86372F-117E-1D3B-7114-66AF221E2B04}"/>
              </a:ext>
            </a:extLst>
          </p:cNvPr>
          <p:cNvSpPr/>
          <p:nvPr/>
        </p:nvSpPr>
        <p:spPr>
          <a:xfrm>
            <a:off x="1436378" y="6060621"/>
            <a:ext cx="182880" cy="182880"/>
          </a:xfrm>
          <a:prstGeom prst="rect">
            <a:avLst/>
          </a:prstGeom>
          <a:solidFill>
            <a:srgbClr val="632A8E"/>
          </a:solidFill>
          <a:ln/>
        </p:spPr>
        <p:txBody>
          <a:bodyPr/>
          <a:lstStyle/>
          <a:p>
            <a:endParaRPr lang="pt-PT">
              <a:solidFill>
                <a:srgbClr val="793498"/>
              </a:solidFill>
            </a:endParaRPr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D01AF20F-71FF-55E0-1D27-9B0F2EE14FCC}"/>
              </a:ext>
            </a:extLst>
          </p:cNvPr>
          <p:cNvSpPr/>
          <p:nvPr/>
        </p:nvSpPr>
        <p:spPr>
          <a:xfrm>
            <a:off x="1674122" y="6005757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aseline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×1</a:t>
            </a:r>
            <a:endParaRPr lang="en-US" sz="2000" baseline="0"/>
          </a:p>
        </p:txBody>
      </p:sp>
      <p:sp>
        <p:nvSpPr>
          <p:cNvPr id="106" name="Shape 52">
            <a:extLst>
              <a:ext uri="{FF2B5EF4-FFF2-40B4-BE49-F238E27FC236}">
                <a16:creationId xmlns:a16="http://schemas.microsoft.com/office/drawing/2014/main" id="{F04254ED-8DE2-73C4-1948-670F977D1340}"/>
              </a:ext>
            </a:extLst>
          </p:cNvPr>
          <p:cNvSpPr/>
          <p:nvPr/>
        </p:nvSpPr>
        <p:spPr>
          <a:xfrm>
            <a:off x="3352046" y="5658301"/>
            <a:ext cx="182880" cy="182880"/>
          </a:xfrm>
          <a:prstGeom prst="rect">
            <a:avLst/>
          </a:prstGeom>
          <a:solidFill>
            <a:srgbClr val="9A600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7" name="Text 53">
            <a:extLst>
              <a:ext uri="{FF2B5EF4-FFF2-40B4-BE49-F238E27FC236}">
                <a16:creationId xmlns:a16="http://schemas.microsoft.com/office/drawing/2014/main" id="{5E73CE7D-AC39-1FAE-8016-D2E69BB8FD65}"/>
              </a:ext>
            </a:extLst>
          </p:cNvPr>
          <p:cNvSpPr/>
          <p:nvPr/>
        </p:nvSpPr>
        <p:spPr>
          <a:xfrm>
            <a:off x="3573802" y="5613708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aseline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×1</a:t>
            </a:r>
            <a:endParaRPr lang="en-US" sz="2000" baseline="0"/>
          </a:p>
        </p:txBody>
      </p:sp>
      <p:sp>
        <p:nvSpPr>
          <p:cNvPr id="108" name="Shape 54">
            <a:extLst>
              <a:ext uri="{FF2B5EF4-FFF2-40B4-BE49-F238E27FC236}">
                <a16:creationId xmlns:a16="http://schemas.microsoft.com/office/drawing/2014/main" id="{2912ED4E-E9C7-22FF-0B1E-9B2E6A51C5FF}"/>
              </a:ext>
            </a:extLst>
          </p:cNvPr>
          <p:cNvSpPr/>
          <p:nvPr/>
        </p:nvSpPr>
        <p:spPr>
          <a:xfrm>
            <a:off x="3335270" y="6088859"/>
            <a:ext cx="182880" cy="182880"/>
          </a:xfrm>
          <a:prstGeom prst="rect">
            <a:avLst/>
          </a:prstGeom>
          <a:solidFill>
            <a:srgbClr val="3C604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9" name="Text 55">
            <a:extLst>
              <a:ext uri="{FF2B5EF4-FFF2-40B4-BE49-F238E27FC236}">
                <a16:creationId xmlns:a16="http://schemas.microsoft.com/office/drawing/2014/main" id="{FF49008F-0CD9-6391-1AA0-06C7EEB6F14F}"/>
              </a:ext>
            </a:extLst>
          </p:cNvPr>
          <p:cNvSpPr/>
          <p:nvPr/>
        </p:nvSpPr>
        <p:spPr>
          <a:xfrm>
            <a:off x="3576930" y="6034102"/>
            <a:ext cx="1488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aseline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×2</a:t>
            </a:r>
            <a:endParaRPr lang="en-US" sz="2000" baseline="0"/>
          </a:p>
        </p:txBody>
      </p:sp>
      <p:sp>
        <p:nvSpPr>
          <p:cNvPr id="111" name="Text 53">
            <a:extLst>
              <a:ext uri="{FF2B5EF4-FFF2-40B4-BE49-F238E27FC236}">
                <a16:creationId xmlns:a16="http://schemas.microsoft.com/office/drawing/2014/main" id="{40052EBF-07E7-1FC5-2B15-D2A2AB81E610}"/>
              </a:ext>
            </a:extLst>
          </p:cNvPr>
          <p:cNvSpPr/>
          <p:nvPr/>
        </p:nvSpPr>
        <p:spPr>
          <a:xfrm>
            <a:off x="3607073" y="3252913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2000" baseline="0">
              <a:solidFill>
                <a:srgbClr val="002060"/>
              </a:solidFill>
            </a:endParaRPr>
          </a:p>
        </p:txBody>
      </p:sp>
      <p:sp>
        <p:nvSpPr>
          <p:cNvPr id="112" name="Text 53">
            <a:extLst>
              <a:ext uri="{FF2B5EF4-FFF2-40B4-BE49-F238E27FC236}">
                <a16:creationId xmlns:a16="http://schemas.microsoft.com/office/drawing/2014/main" id="{292AA714-DBBD-C8C4-4EE9-962A600A30BC}"/>
              </a:ext>
            </a:extLst>
          </p:cNvPr>
          <p:cNvSpPr/>
          <p:nvPr/>
        </p:nvSpPr>
        <p:spPr>
          <a:xfrm>
            <a:off x="2972017" y="3893817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2000" baseline="0">
              <a:solidFill>
                <a:srgbClr val="002060"/>
              </a:solidFill>
            </a:endParaRPr>
          </a:p>
        </p:txBody>
      </p:sp>
      <p:sp>
        <p:nvSpPr>
          <p:cNvPr id="113" name="Text 53">
            <a:extLst>
              <a:ext uri="{FF2B5EF4-FFF2-40B4-BE49-F238E27FC236}">
                <a16:creationId xmlns:a16="http://schemas.microsoft.com/office/drawing/2014/main" id="{5AB60E71-FAE8-5331-5A31-5B9D1A16DA3C}"/>
              </a:ext>
            </a:extLst>
          </p:cNvPr>
          <p:cNvSpPr/>
          <p:nvPr/>
        </p:nvSpPr>
        <p:spPr>
          <a:xfrm>
            <a:off x="2336961" y="3251597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2000" baseline="0">
              <a:solidFill>
                <a:srgbClr val="002060"/>
              </a:solidFill>
            </a:endParaRPr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303986CE-EDEE-461B-E137-A870C57EF024}"/>
              </a:ext>
            </a:extLst>
          </p:cNvPr>
          <p:cNvSpPr/>
          <p:nvPr/>
        </p:nvSpPr>
        <p:spPr>
          <a:xfrm>
            <a:off x="2972017" y="3103658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2000" baseline="0">
              <a:solidFill>
                <a:srgbClr val="002060"/>
              </a:solidFill>
            </a:endParaRPr>
          </a:p>
        </p:txBody>
      </p:sp>
      <p:sp>
        <p:nvSpPr>
          <p:cNvPr id="115" name="Text 53">
            <a:extLst>
              <a:ext uri="{FF2B5EF4-FFF2-40B4-BE49-F238E27FC236}">
                <a16:creationId xmlns:a16="http://schemas.microsoft.com/office/drawing/2014/main" id="{BB08E883-514D-E48E-2FEA-1801928CA989}"/>
              </a:ext>
            </a:extLst>
          </p:cNvPr>
          <p:cNvSpPr/>
          <p:nvPr/>
        </p:nvSpPr>
        <p:spPr>
          <a:xfrm>
            <a:off x="2972017" y="3384432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2000" baseline="0">
              <a:solidFill>
                <a:srgbClr val="002060"/>
              </a:solidFill>
            </a:endParaRPr>
          </a:p>
        </p:txBody>
      </p:sp>
      <p:sp>
        <p:nvSpPr>
          <p:cNvPr id="116" name="Text 53">
            <a:extLst>
              <a:ext uri="{FF2B5EF4-FFF2-40B4-BE49-F238E27FC236}">
                <a16:creationId xmlns:a16="http://schemas.microsoft.com/office/drawing/2014/main" id="{4C7A99C3-D6F9-EA99-D757-2F5290AD3371}"/>
              </a:ext>
            </a:extLst>
          </p:cNvPr>
          <p:cNvSpPr/>
          <p:nvPr/>
        </p:nvSpPr>
        <p:spPr>
          <a:xfrm>
            <a:off x="3625852" y="3892501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632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2000" baseline="0">
              <a:solidFill>
                <a:srgbClr val="63298E"/>
              </a:solidFill>
            </a:endParaRPr>
          </a:p>
        </p:txBody>
      </p:sp>
      <p:sp>
        <p:nvSpPr>
          <p:cNvPr id="117" name="Text 53">
            <a:extLst>
              <a:ext uri="{FF2B5EF4-FFF2-40B4-BE49-F238E27FC236}">
                <a16:creationId xmlns:a16="http://schemas.microsoft.com/office/drawing/2014/main" id="{9A57E99A-F372-0F80-BB75-C2D4CD97170F}"/>
              </a:ext>
            </a:extLst>
          </p:cNvPr>
          <p:cNvSpPr/>
          <p:nvPr/>
        </p:nvSpPr>
        <p:spPr>
          <a:xfrm>
            <a:off x="2336961" y="3903621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9A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</a:t>
            </a:r>
            <a:endParaRPr lang="en-US" sz="2000" baseline="0">
              <a:solidFill>
                <a:srgbClr val="9A600C"/>
              </a:solidFill>
            </a:endParaRPr>
          </a:p>
        </p:txBody>
      </p:sp>
      <p:sp>
        <p:nvSpPr>
          <p:cNvPr id="119" name="Text 53">
            <a:extLst>
              <a:ext uri="{FF2B5EF4-FFF2-40B4-BE49-F238E27FC236}">
                <a16:creationId xmlns:a16="http://schemas.microsoft.com/office/drawing/2014/main" id="{77AB9AA2-E6EC-49FC-F9B7-E6A8B616DE0B}"/>
              </a:ext>
            </a:extLst>
          </p:cNvPr>
          <p:cNvSpPr/>
          <p:nvPr/>
        </p:nvSpPr>
        <p:spPr>
          <a:xfrm>
            <a:off x="1066849" y="3240122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3C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2000" baseline="0">
              <a:solidFill>
                <a:srgbClr val="3C6045"/>
              </a:solidFill>
            </a:endParaRP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A8EE924B-06EE-0EB8-B58F-7A8FDADC5326}"/>
              </a:ext>
            </a:extLst>
          </p:cNvPr>
          <p:cNvSpPr/>
          <p:nvPr/>
        </p:nvSpPr>
        <p:spPr bwMode="auto">
          <a:xfrm>
            <a:off x="5167400" y="3793279"/>
            <a:ext cx="3536247" cy="2450222"/>
          </a:xfrm>
          <a:prstGeom prst="roundRect">
            <a:avLst/>
          </a:prstGeom>
          <a:solidFill>
            <a:srgbClr val="009DE0">
              <a:alpha val="4078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65AC5EC0-9653-0BF6-37AD-87C428D16252}"/>
              </a:ext>
            </a:extLst>
          </p:cNvPr>
          <p:cNvSpPr/>
          <p:nvPr/>
        </p:nvSpPr>
        <p:spPr bwMode="auto">
          <a:xfrm>
            <a:off x="5167400" y="1347659"/>
            <a:ext cx="3536247" cy="2356923"/>
          </a:xfrm>
          <a:prstGeom prst="roundRect">
            <a:avLst/>
          </a:prstGeom>
          <a:solidFill>
            <a:srgbClr val="009DE0">
              <a:alpha val="4039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-25000">
              <a:ln>
                <a:noFill/>
              </a:ln>
              <a:solidFill>
                <a:srgbClr val="000099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0" name="Text 53">
            <a:extLst>
              <a:ext uri="{FF2B5EF4-FFF2-40B4-BE49-F238E27FC236}">
                <a16:creationId xmlns:a16="http://schemas.microsoft.com/office/drawing/2014/main" id="{58E101B5-0D6B-C1EC-D2B5-97F840842578}"/>
              </a:ext>
            </a:extLst>
          </p:cNvPr>
          <p:cNvSpPr/>
          <p:nvPr/>
        </p:nvSpPr>
        <p:spPr>
          <a:xfrm>
            <a:off x="1701905" y="3887070"/>
            <a:ext cx="1374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3C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</a:t>
            </a:r>
            <a:endParaRPr lang="en-US" sz="2000" baseline="0">
              <a:solidFill>
                <a:srgbClr val="3C6045"/>
              </a:solidFill>
            </a:endParaRPr>
          </a:p>
        </p:txBody>
      </p:sp>
      <p:sp>
        <p:nvSpPr>
          <p:cNvPr id="122" name="Text 57">
            <a:extLst>
              <a:ext uri="{FF2B5EF4-FFF2-40B4-BE49-F238E27FC236}">
                <a16:creationId xmlns:a16="http://schemas.microsoft.com/office/drawing/2014/main" id="{146E54A1-21BE-29C7-AFA7-0A17047743CD}"/>
              </a:ext>
            </a:extLst>
          </p:cNvPr>
          <p:cNvSpPr/>
          <p:nvPr/>
        </p:nvSpPr>
        <p:spPr>
          <a:xfrm>
            <a:off x="5315410" y="1663882"/>
            <a:ext cx="3285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baseline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</a:t>
            </a:r>
            <a:endParaRPr lang="en-US" sz="2400" baseline="0">
              <a:solidFill>
                <a:schemeClr val="tx1"/>
              </a:solidFill>
            </a:endParaRPr>
          </a:p>
        </p:txBody>
      </p:sp>
      <p:sp>
        <p:nvSpPr>
          <p:cNvPr id="126" name="Text 62">
            <a:extLst>
              <a:ext uri="{FF2B5EF4-FFF2-40B4-BE49-F238E27FC236}">
                <a16:creationId xmlns:a16="http://schemas.microsoft.com/office/drawing/2014/main" id="{EB6A1700-E277-0C77-6116-2B50C9BFC022}"/>
              </a:ext>
            </a:extLst>
          </p:cNvPr>
          <p:cNvSpPr/>
          <p:nvPr/>
        </p:nvSpPr>
        <p:spPr>
          <a:xfrm>
            <a:off x="6021123" y="4742821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baseline="0">
                <a:solidFill>
                  <a:schemeClr val="tx1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≈ 5,5 d</a:t>
            </a:r>
            <a:endParaRPr lang="en-US" sz="28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Text 58">
            <a:extLst>
              <a:ext uri="{FF2B5EF4-FFF2-40B4-BE49-F238E27FC236}">
                <a16:creationId xmlns:a16="http://schemas.microsoft.com/office/drawing/2014/main" id="{CC7E08D6-A511-8F9D-4D47-F1850D5D863B}"/>
              </a:ext>
            </a:extLst>
          </p:cNvPr>
          <p:cNvSpPr/>
          <p:nvPr/>
        </p:nvSpPr>
        <p:spPr>
          <a:xfrm>
            <a:off x="5563923" y="220388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baseline="0">
                <a:solidFill>
                  <a:schemeClr val="tx1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15 174 €</a:t>
            </a:r>
            <a:endParaRPr lang="en-US" sz="28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Text 59">
            <a:extLst>
              <a:ext uri="{FF2B5EF4-FFF2-40B4-BE49-F238E27FC236}">
                <a16:creationId xmlns:a16="http://schemas.microsoft.com/office/drawing/2014/main" id="{83A2B036-D628-7577-6CE8-BA2DFA6DBE29}"/>
              </a:ext>
            </a:extLst>
          </p:cNvPr>
          <p:cNvSpPr/>
          <p:nvPr/>
        </p:nvSpPr>
        <p:spPr>
          <a:xfrm>
            <a:off x="5131110" y="3006402"/>
            <a:ext cx="36539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7% of the 213 996 € estimate</a:t>
            </a:r>
            <a:endParaRPr lang="en-US" sz="2000" baseline="0"/>
          </a:p>
        </p:txBody>
      </p:sp>
      <p:sp>
        <p:nvSpPr>
          <p:cNvPr id="130" name="Text 57">
            <a:extLst>
              <a:ext uri="{FF2B5EF4-FFF2-40B4-BE49-F238E27FC236}">
                <a16:creationId xmlns:a16="http://schemas.microsoft.com/office/drawing/2014/main" id="{5A37E63F-92F6-DAE6-EB62-6052D0E4BF2D}"/>
              </a:ext>
            </a:extLst>
          </p:cNvPr>
          <p:cNvSpPr/>
          <p:nvPr/>
        </p:nvSpPr>
        <p:spPr>
          <a:xfrm>
            <a:off x="5315410" y="4143125"/>
            <a:ext cx="3285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baseline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r>
              <a:rPr lang="en-US" sz="2000" b="1" kern="0" spc="100" baseline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kern="0" spc="100" baseline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2400" baseline="0">
              <a:solidFill>
                <a:schemeClr val="tx1"/>
              </a:solidFill>
            </a:endParaRPr>
          </a:p>
        </p:txBody>
      </p:sp>
      <p:sp>
        <p:nvSpPr>
          <p:cNvPr id="133" name="Text 59">
            <a:extLst>
              <a:ext uri="{FF2B5EF4-FFF2-40B4-BE49-F238E27FC236}">
                <a16:creationId xmlns:a16="http://schemas.microsoft.com/office/drawing/2014/main" id="{CBF7AD31-1930-1512-1701-D00E8D0CE652}"/>
              </a:ext>
            </a:extLst>
          </p:cNvPr>
          <p:cNvSpPr/>
          <p:nvPr/>
        </p:nvSpPr>
        <p:spPr>
          <a:xfrm>
            <a:off x="5118563" y="5694877"/>
            <a:ext cx="36539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aseline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6 days buffer</a:t>
            </a:r>
            <a:endParaRPr lang="en-US" sz="2000" baseline="0"/>
          </a:p>
        </p:txBody>
      </p:sp>
      <p:sp>
        <p:nvSpPr>
          <p:cNvPr id="131" name="Text 58">
            <a:extLst>
              <a:ext uri="{FF2B5EF4-FFF2-40B4-BE49-F238E27FC236}">
                <a16:creationId xmlns:a16="http://schemas.microsoft.com/office/drawing/2014/main" id="{8A3E07B6-4B96-46FA-E65C-8A7A8DA01AB6}"/>
              </a:ext>
            </a:extLst>
          </p:cNvPr>
          <p:cNvSpPr/>
          <p:nvPr/>
        </p:nvSpPr>
        <p:spPr>
          <a:xfrm>
            <a:off x="5563923" y="4399141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6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5DB50-2553-16B5-AD70-4291903E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305658E-C084-A517-FC32-19691224C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115888"/>
            <a:ext cx="8064500" cy="1225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/>
              <a:t>Conclusions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1058C8-C5D2-9F70-2A09-018C4F25B947}"/>
              </a:ext>
            </a:extLst>
          </p:cNvPr>
          <p:cNvSpPr/>
          <p:nvPr/>
        </p:nvSpPr>
        <p:spPr>
          <a:xfrm>
            <a:off x="1289665" y="1225569"/>
            <a:ext cx="733031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5725A-58FE-9037-2E87-B27BCB102CB3}"/>
              </a:ext>
            </a:extLst>
          </p:cNvPr>
          <p:cNvSpPr txBox="1"/>
          <p:nvPr/>
        </p:nvSpPr>
        <p:spPr>
          <a:xfrm>
            <a:off x="1289664" y="1240906"/>
            <a:ext cx="73303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8525C"/>
                </a:solidFill>
              </a:defRPr>
            </a:pPr>
            <a:r>
              <a:rPr sz="2400" baseline="0">
                <a:latin typeface="Calibri" panose="020F0502020204030204" pitchFamily="34" charset="0"/>
                <a:cs typeface="Calibri" panose="020F0502020204030204" pitchFamily="34" charset="0"/>
              </a:rPr>
              <a:t>Complete and realistic planning package for the MV World Voyager telecom</a:t>
            </a:r>
            <a:r>
              <a:rPr lang="pt-PT" sz="2400" baseline="0">
                <a:latin typeface="Calibri" panose="020F0502020204030204" pitchFamily="34" charset="0"/>
                <a:cs typeface="Calibri" panose="020F0502020204030204" pitchFamily="34" charset="0"/>
              </a:rPr>
              <a:t>munications</a:t>
            </a:r>
            <a:r>
              <a:rPr sz="2400" baseline="0">
                <a:latin typeface="Calibri" panose="020F0502020204030204" pitchFamily="34" charset="0"/>
                <a:cs typeface="Calibri" panose="020F0502020204030204" pitchFamily="34" charset="0"/>
              </a:rPr>
              <a:t> deployment.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EFBFBB-A0FB-F6DB-1904-84D7C3EC4D4B}"/>
              </a:ext>
            </a:extLst>
          </p:cNvPr>
          <p:cNvSpPr/>
          <p:nvPr/>
        </p:nvSpPr>
        <p:spPr>
          <a:xfrm>
            <a:off x="1292960" y="2505729"/>
            <a:ext cx="1624760" cy="1417320"/>
          </a:xfrm>
          <a:prstGeom prst="roundRect">
            <a:avLst/>
          </a:prstGeom>
          <a:solidFill>
            <a:srgbClr val="ECF7FB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04033-5A1D-CFD9-C023-7EC2B361BC77}"/>
              </a:ext>
            </a:extLst>
          </p:cNvPr>
          <p:cNvSpPr txBox="1"/>
          <p:nvPr/>
        </p:nvSpPr>
        <p:spPr>
          <a:xfrm>
            <a:off x="1322112" y="2780049"/>
            <a:ext cx="1566454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200" b="1">
                <a:solidFill>
                  <a:srgbClr val="0099DB"/>
                </a:solidFill>
              </a:defRPr>
            </a:pPr>
            <a:r>
              <a:rPr sz="2400" baseline="0" dirty="0">
                <a:latin typeface="Calibri"/>
                <a:ea typeface="Calibri"/>
                <a:cs typeface="Calibri"/>
              </a:rPr>
              <a:t>€</a:t>
            </a:r>
            <a:r>
              <a:rPr lang="pt-PT" sz="2400" baseline="0" dirty="0">
                <a:latin typeface="Calibri"/>
                <a:ea typeface="Calibri"/>
                <a:cs typeface="Calibri"/>
              </a:rPr>
              <a:t>214</a:t>
            </a:r>
            <a:r>
              <a:rPr lang="pt-PT" sz="2400" baseline="0">
                <a:latin typeface="Calibri"/>
                <a:ea typeface="Calibri"/>
                <a:cs typeface="Calibri"/>
              </a:rPr>
              <a:t> 47</a:t>
            </a:r>
            <a:r>
              <a:rPr lang="pt-PT" sz="2400" baseline="0" dirty="0">
                <a:latin typeface="Calibri"/>
                <a:ea typeface="Calibri"/>
                <a:cs typeface="Calibri"/>
              </a:rPr>
              <a:t>6 </a:t>
            </a:r>
            <a:r>
              <a:rPr lang="en-PT" sz="2400" baseline="0" dirty="0">
                <a:latin typeface="Calibri"/>
                <a:ea typeface="Calibri"/>
                <a:cs typeface="Calibri"/>
              </a:rPr>
              <a:t>€</a:t>
            </a:r>
            <a:endParaRPr sz="2400" baseline="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619E7-26AA-F404-FAB4-99E22C8DE098}"/>
              </a:ext>
            </a:extLst>
          </p:cNvPr>
          <p:cNvSpPr txBox="1"/>
          <p:nvPr/>
        </p:nvSpPr>
        <p:spPr>
          <a:xfrm>
            <a:off x="1224140" y="3191529"/>
            <a:ext cx="1762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8525C"/>
                </a:solidFill>
              </a:defRPr>
            </a:pPr>
            <a:r>
              <a:rPr lang="pt-PT" sz="2000" baseline="0" err="1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-packages</a:t>
            </a:r>
            <a:endParaRPr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D46D9F-58E7-1A52-E86E-22A1E323CCA6}"/>
              </a:ext>
            </a:extLst>
          </p:cNvPr>
          <p:cNvSpPr/>
          <p:nvPr/>
        </p:nvSpPr>
        <p:spPr>
          <a:xfrm>
            <a:off x="4291033" y="2505729"/>
            <a:ext cx="1624760" cy="1417320"/>
          </a:xfrm>
          <a:prstGeom prst="roundRect">
            <a:avLst/>
          </a:prstGeom>
          <a:solidFill>
            <a:srgbClr val="ECF7FB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57C31-CCDB-2B92-B0D1-DA498D35E066}"/>
              </a:ext>
            </a:extLst>
          </p:cNvPr>
          <p:cNvSpPr txBox="1"/>
          <p:nvPr/>
        </p:nvSpPr>
        <p:spPr>
          <a:xfrm>
            <a:off x="4397931" y="2780049"/>
            <a:ext cx="1410964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200" b="1">
                <a:solidFill>
                  <a:srgbClr val="0099DB"/>
                </a:solidFill>
              </a:defRPr>
            </a:pPr>
            <a:r>
              <a:rPr sz="2400" baseline="0" dirty="0">
                <a:latin typeface="Calibri"/>
                <a:ea typeface="Calibri"/>
                <a:cs typeface="Calibri"/>
              </a:rPr>
              <a:t>229</a:t>
            </a:r>
            <a:r>
              <a:rPr lang="pt-PT" sz="2400" baseline="0">
                <a:latin typeface="Calibri"/>
                <a:ea typeface="Calibri"/>
                <a:cs typeface="Calibri"/>
              </a:rPr>
              <a:t> 65</a:t>
            </a:r>
            <a:r>
              <a:rPr lang="pt-PT" sz="2400" baseline="0" dirty="0">
                <a:latin typeface="Calibri"/>
                <a:ea typeface="Calibri"/>
                <a:cs typeface="Calibri"/>
              </a:rPr>
              <a:t>0 </a:t>
            </a:r>
            <a:r>
              <a:rPr lang="en-PT" sz="2400" baseline="0" dirty="0">
                <a:latin typeface="Calibri"/>
                <a:ea typeface="Calibri"/>
                <a:cs typeface="Calibri"/>
              </a:rPr>
              <a:t>€</a:t>
            </a:r>
            <a:endParaRPr sz="2400" baseline="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7D8D9-B3BF-BFDF-199E-7CD2BCC0825F}"/>
              </a:ext>
            </a:extLst>
          </p:cNvPr>
          <p:cNvSpPr txBox="1"/>
          <p:nvPr/>
        </p:nvSpPr>
        <p:spPr>
          <a:xfrm>
            <a:off x="4574263" y="3191529"/>
            <a:ext cx="10583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Baseline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401BC8-21DB-0F2D-7E28-F5E4D51BAF97}"/>
              </a:ext>
            </a:extLst>
          </p:cNvPr>
          <p:cNvSpPr/>
          <p:nvPr/>
        </p:nvSpPr>
        <p:spPr>
          <a:xfrm>
            <a:off x="7278595" y="2505729"/>
            <a:ext cx="1624760" cy="1417320"/>
          </a:xfrm>
          <a:prstGeom prst="roundRect">
            <a:avLst/>
          </a:prstGeom>
          <a:solidFill>
            <a:srgbClr val="ECF7FB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B6CAC-53F3-DA34-AFF9-71543919D407}"/>
              </a:ext>
            </a:extLst>
          </p:cNvPr>
          <p:cNvSpPr txBox="1"/>
          <p:nvPr/>
        </p:nvSpPr>
        <p:spPr>
          <a:xfrm>
            <a:off x="7385494" y="2780049"/>
            <a:ext cx="1410964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200" b="1">
                <a:solidFill>
                  <a:srgbClr val="0099DB"/>
                </a:solidFill>
              </a:defRPr>
            </a:pPr>
            <a:r>
              <a:rPr sz="2400" baseline="0" dirty="0">
                <a:latin typeface="Calibri"/>
                <a:ea typeface="Calibri"/>
                <a:cs typeface="Calibri"/>
              </a:rPr>
              <a:t>252</a:t>
            </a:r>
            <a:r>
              <a:rPr lang="pt-PT" sz="2400" baseline="0">
                <a:latin typeface="Calibri"/>
                <a:ea typeface="Calibri"/>
                <a:cs typeface="Calibri"/>
              </a:rPr>
              <a:t> 615</a:t>
            </a:r>
            <a:r>
              <a:rPr lang="pt-PT" sz="2400" baseline="0" dirty="0">
                <a:latin typeface="Calibri"/>
                <a:ea typeface="Calibri"/>
                <a:cs typeface="Calibri"/>
              </a:rPr>
              <a:t> </a:t>
            </a:r>
            <a:r>
              <a:rPr lang="en-PT" sz="2400" baseline="0" dirty="0">
                <a:latin typeface="Calibri"/>
                <a:ea typeface="Calibri"/>
                <a:cs typeface="Calibri"/>
              </a:rPr>
              <a:t>€</a:t>
            </a:r>
            <a:endParaRPr sz="2400" baseline="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99328-EC16-B254-2B52-051E00B2E209}"/>
              </a:ext>
            </a:extLst>
          </p:cNvPr>
          <p:cNvSpPr txBox="1"/>
          <p:nvPr/>
        </p:nvSpPr>
        <p:spPr>
          <a:xfrm>
            <a:off x="7628477" y="3191529"/>
            <a:ext cx="9249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Budget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9559D7B-6D6D-6061-384B-FF13F54071B7}"/>
              </a:ext>
            </a:extLst>
          </p:cNvPr>
          <p:cNvSpPr/>
          <p:nvPr/>
        </p:nvSpPr>
        <p:spPr>
          <a:xfrm>
            <a:off x="1045754" y="4159193"/>
            <a:ext cx="3476232" cy="149367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33734A-72FB-FA84-2B28-444548690FF0}"/>
              </a:ext>
            </a:extLst>
          </p:cNvPr>
          <p:cNvSpPr txBox="1"/>
          <p:nvPr/>
        </p:nvSpPr>
        <p:spPr>
          <a:xfrm>
            <a:off x="1139666" y="4177077"/>
            <a:ext cx="347623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WBS with clear deliverable traceability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PERT and resource leveling supported execution planning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1FA684-2934-D43A-CE6D-3E4D7DBDC7D4}"/>
              </a:ext>
            </a:extLst>
          </p:cNvPr>
          <p:cNvSpPr/>
          <p:nvPr/>
        </p:nvSpPr>
        <p:spPr>
          <a:xfrm>
            <a:off x="5548427" y="4159193"/>
            <a:ext cx="3476232" cy="1493672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352FB-9EB4-9705-7891-7F8EFA2DD680}"/>
              </a:ext>
            </a:extLst>
          </p:cNvPr>
          <p:cNvSpPr txBox="1"/>
          <p:nvPr/>
        </p:nvSpPr>
        <p:spPr>
          <a:xfrm>
            <a:off x="5548427" y="4177076"/>
            <a:ext cx="335492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Risk and quality increased budget realism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  <a:defRPr sz="15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Compliance and logistics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matched the marine context</a:t>
            </a:r>
            <a:r>
              <a:rPr lang="en-GB" sz="2000" baseline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pt-PT" sz="2000" baseline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baseline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81175FA-0626-3E5A-BA1D-809621ABE993}"/>
              </a:ext>
            </a:extLst>
          </p:cNvPr>
          <p:cNvSpPr/>
          <p:nvPr/>
        </p:nvSpPr>
        <p:spPr>
          <a:xfrm>
            <a:off x="1516377" y="5843289"/>
            <a:ext cx="6876893" cy="502920"/>
          </a:xfrm>
          <a:prstGeom prst="roundRect">
            <a:avLst/>
          </a:prstGeom>
          <a:solidFill>
            <a:srgbClr val="ECF7FB"/>
          </a:solidFill>
          <a:ln>
            <a:solidFill>
              <a:srgbClr val="009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6C5E9-B36F-61A4-34E6-9A4E5535C001}"/>
              </a:ext>
            </a:extLst>
          </p:cNvPr>
          <p:cNvSpPr txBox="1"/>
          <p:nvPr/>
        </p:nvSpPr>
        <p:spPr>
          <a:xfrm>
            <a:off x="2279250" y="5900439"/>
            <a:ext cx="53511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8525C"/>
                </a:solidFill>
              </a:defRPr>
            </a:pPr>
            <a:r>
              <a:rPr sz="2000" baseline="0">
                <a:latin typeface="Calibri" panose="020F0502020204030204" pitchFamily="34" charset="0"/>
                <a:cs typeface="Calibri" panose="020F0502020204030204" pitchFamily="34" charset="0"/>
              </a:rPr>
              <a:t>Structured, traceable, and implementation-ready.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BBCE16-5F6A-384F-744F-A46F9E047DDD}"/>
              </a:ext>
            </a:extLst>
          </p:cNvPr>
          <p:cNvCxnSpPr>
            <a:stCxn id="4" idx="3"/>
            <a:endCxn id="7" idx="1"/>
          </p:cNvCxnSpPr>
          <p:nvPr/>
        </p:nvCxnSpPr>
        <p:spPr bwMode="auto">
          <a:xfrm>
            <a:off x="2917720" y="3214389"/>
            <a:ext cx="137331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C51AE4-F379-8A9C-7C93-7B44311935CA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 bwMode="auto">
          <a:xfrm>
            <a:off x="5915793" y="3214389"/>
            <a:ext cx="136280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C0CA99-C0F3-C8D7-C876-3839D7F468DC}"/>
              </a:ext>
            </a:extLst>
          </p:cNvPr>
          <p:cNvSpPr txBox="1"/>
          <p:nvPr/>
        </p:nvSpPr>
        <p:spPr>
          <a:xfrm>
            <a:off x="2946873" y="2680138"/>
            <a:ext cx="127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4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Contigency Reserve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6EA1DF-57E7-DFB8-4110-1C09014C36B5}"/>
              </a:ext>
            </a:extLst>
          </p:cNvPr>
          <p:cNvSpPr txBox="1"/>
          <p:nvPr/>
        </p:nvSpPr>
        <p:spPr>
          <a:xfrm>
            <a:off x="5915793" y="2705878"/>
            <a:ext cx="134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4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Management Reserve (10 %)</a:t>
            </a:r>
          </a:p>
        </p:txBody>
      </p:sp>
    </p:spTree>
    <p:extLst>
      <p:ext uri="{BB962C8B-B14F-4D97-AF65-F5344CB8AC3E}">
        <p14:creationId xmlns:p14="http://schemas.microsoft.com/office/powerpoint/2010/main" val="390209826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400" b="0" i="0" u="none" strike="noStrike" cap="none" normalizeH="0" baseline="-25000" smtClean="0">
            <a:ln>
              <a:noFill/>
            </a:ln>
            <a:solidFill>
              <a:srgbClr val="000099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400" b="0" i="0" u="none" strike="noStrike" cap="none" normalizeH="0" baseline="-25000" smtClean="0">
            <a:ln>
              <a:noFill/>
            </a:ln>
            <a:solidFill>
              <a:srgbClr val="000099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e9d295-03b0-4186-92d0-bbd64660ef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CEC99FDE155844BB7D879DDEBF7324" ma:contentTypeVersion="9" ma:contentTypeDescription="Criar um novo documento." ma:contentTypeScope="" ma:versionID="2aa5511219e3081b03ac9fe177bb9f3b">
  <xsd:schema xmlns:xsd="http://www.w3.org/2001/XMLSchema" xmlns:xs="http://www.w3.org/2001/XMLSchema" xmlns:p="http://schemas.microsoft.com/office/2006/metadata/properties" xmlns:ns3="fee9d295-03b0-4186-92d0-bbd64660efca" xmlns:ns4="1914ca19-8166-4886-b6d6-d0179fdbe8fa" targetNamespace="http://schemas.microsoft.com/office/2006/metadata/properties" ma:root="true" ma:fieldsID="8a3eaaee9e3ebee27d2fd3a42a74d480" ns3:_="" ns4:_="">
    <xsd:import namespace="fee9d295-03b0-4186-92d0-bbd64660efca"/>
    <xsd:import namespace="1914ca19-8166-4886-b6d6-d0179fdbe8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9d295-03b0-4186-92d0-bbd64660ef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14ca19-8166-4886-b6d6-d0179fdbe8f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62EA52-A5E5-4830-9FEC-E68A45B18CBB}">
  <ds:schemaRefs>
    <ds:schemaRef ds:uri="1914ca19-8166-4886-b6d6-d0179fdbe8fa"/>
    <ds:schemaRef ds:uri="fee9d295-03b0-4186-92d0-bbd64660ef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5C600B7-6338-49E5-9883-172C54E9BF11}">
  <ds:schemaRefs>
    <ds:schemaRef ds:uri="1914ca19-8166-4886-b6d6-d0179fdbe8fa"/>
    <ds:schemaRef ds:uri="fee9d295-03b0-4186-92d0-bbd64660ef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93414EB-6879-459F-821F-20C9DAB976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GuideGoodPre_20160208</Template>
  <Application>Microsoft Office PowerPoint</Application>
  <PresentationFormat>Apresentação no Ecrã (4:3)</PresentationFormat>
  <Slides>12</Slides>
  <Notes>7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dos diapositivos</vt:lpstr>
      </vt:variant>
      <vt:variant>
        <vt:i4>12</vt:i4>
      </vt:variant>
    </vt:vector>
  </HeadingPairs>
  <TitlesOfParts>
    <vt:vector size="14" baseType="lpstr">
      <vt:lpstr>Default Design</vt:lpstr>
      <vt:lpstr>Custom Design</vt:lpstr>
      <vt:lpstr>Mobile Communications’ Base Stations and Wi-Fi Access Points inside a Cruise Ship</vt:lpstr>
      <vt:lpstr>Outline</vt:lpstr>
      <vt:lpstr>Understanding the Onboard Challenge</vt:lpstr>
      <vt:lpstr>Apresentação do PowerPoint</vt:lpstr>
      <vt:lpstr>Stakeholders</vt:lpstr>
      <vt:lpstr>Work Breakdown Structure</vt:lpstr>
      <vt:lpstr>RACI Matrix</vt:lpstr>
      <vt:lpstr>Resources &amp; Cost Analysis</vt:lpstr>
      <vt:lpstr>Schedule</vt:lpstr>
      <vt:lpstr>Quality Control Plan</vt:lpstr>
      <vt:lpstr>Risk Management</vt:lpstr>
      <vt:lpstr>Conclusions</vt:lpstr>
    </vt:vector>
  </TitlesOfParts>
  <Company>IT/IST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Guidelines for a Good Presentation </dc:title>
  <dc:creator>Luis M Correia</dc:creator>
  <cp:revision>31</cp:revision>
  <cp:lastPrinted>2021-11-25T15:09:03Z</cp:lastPrinted>
  <dcterms:created xsi:type="dcterms:W3CDTF">2018-11-22T20:04:09Z</dcterms:created>
  <dcterms:modified xsi:type="dcterms:W3CDTF">2026-06-05T21:19:30Z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0x01010059CEC99FDE155844BB7D879DDEBF7324</vt:lpwstr>
  </property>
</Properties>
</file>